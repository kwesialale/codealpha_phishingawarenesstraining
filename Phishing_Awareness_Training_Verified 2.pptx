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610"/>
  </p:normalViewPr>
  <p:slideViewPr>
    <p:cSldViewPr snapToGrid="0" snapToObjects="1">
      <p:cViewPr varScale="1">
        <p:scale>
          <a:sx n="96" d="100"/>
          <a:sy n="96" d="100"/>
        </p:scale>
        <p:origin x="62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8731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Mention this module is fact-checked against primary sources, not just generic advice.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phishing plainly, then show the two verified headline stats with their exact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perfect grammar is no longer a reliable red flag, since AI now writes fluent phishing emails.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fictional mock email built for the training — not a real captured message.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HTTPS/padlock myth - a very common misconception even among tech-savvy people.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Email Compromise is covered on its own slide next, since it deserves more depth.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stats verified directly against APWG and Microsoft's own published reports.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flagship global example - extremely well documented court case, good for a mixed audience.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Mike case is real but from 2016 - dated clearly here so it isn't mistaken for a current event.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practical - simple habits anyone can start using today.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reporting is emphasized because it increases the chance of tracking criminals and limiting damage.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presenting live, ask the audience to guess before revealing each answer.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BEC definition again here since it's one of the costliest scam types covered.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quiz slide - reinforces the immediate-action steps from the earlier 'if you suspect an attack'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slide - these five points are the ones people should walk away remembering most.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are real, checkable, primary or near-primary references - no fabricated citations.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ic3.gov/"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interpol.int/" TargetMode="External"/><Relationship Id="rId5" Type="http://schemas.openxmlformats.org/officeDocument/2006/relationships/hyperlink" Target="https://microsoft.com/security" TargetMode="External"/><Relationship Id="rId4" Type="http://schemas.openxmlformats.org/officeDocument/2006/relationships/hyperlink" Target="https://apwg.org/"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63B"/>
        </a:solidFill>
        <a:effectLst/>
      </p:bgPr>
    </p:bg>
    <p:spTree>
      <p:nvGrpSpPr>
        <p:cNvPr id="1" name=""/>
        <p:cNvGrpSpPr/>
        <p:nvPr/>
      </p:nvGrpSpPr>
      <p:grpSpPr>
        <a:xfrm>
          <a:off x="0" y="0"/>
          <a:ext cx="0" cy="0"/>
          <a:chOff x="0" y="0"/>
          <a:chExt cx="0" cy="0"/>
        </a:xfrm>
      </p:grpSpPr>
      <p:sp>
        <p:nvSpPr>
          <p:cNvPr id="2" name="Shape 0"/>
          <p:cNvSpPr/>
          <p:nvPr/>
        </p:nvSpPr>
        <p:spPr>
          <a:xfrm>
            <a:off x="8778240" y="-1828800"/>
            <a:ext cx="5120640" cy="5120640"/>
          </a:xfrm>
          <a:prstGeom prst="ellipse">
            <a:avLst/>
          </a:prstGeom>
          <a:solidFill>
            <a:srgbClr val="27405E"/>
          </a:solidFill>
          <a:ln/>
        </p:spPr>
      </p:sp>
      <p:sp>
        <p:nvSpPr>
          <p:cNvPr id="3" name="Shape 1"/>
          <p:cNvSpPr/>
          <p:nvPr/>
        </p:nvSpPr>
        <p:spPr>
          <a:xfrm>
            <a:off x="-1645920" y="4754880"/>
            <a:ext cx="3840480" cy="3840480"/>
          </a:xfrm>
          <a:prstGeom prst="ellipse">
            <a:avLst/>
          </a:prstGeom>
          <a:solidFill>
            <a:srgbClr val="27405E"/>
          </a:solidFill>
          <a:ln/>
        </p:spPr>
      </p:sp>
      <p:sp>
        <p:nvSpPr>
          <p:cNvPr id="4" name="Text 2"/>
          <p:cNvSpPr txBox="1"/>
          <p:nvPr/>
        </p:nvSpPr>
        <p:spPr>
          <a:xfrm>
            <a:off x="731520" y="2286000"/>
            <a:ext cx="9875520" cy="109728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Phishing Awareness Training</a:t>
            </a:r>
            <a:endParaRPr lang="en-US" sz="3800" dirty="0"/>
          </a:p>
        </p:txBody>
      </p:sp>
      <p:sp>
        <p:nvSpPr>
          <p:cNvPr id="5" name="Text 3"/>
          <p:cNvSpPr txBox="1"/>
          <p:nvPr/>
        </p:nvSpPr>
        <p:spPr>
          <a:xfrm>
            <a:off x="731520" y="3337560"/>
            <a:ext cx="8961120" cy="548640"/>
          </a:xfrm>
          <a:prstGeom prst="rect">
            <a:avLst/>
          </a:prstGeom>
          <a:noFill/>
          <a:ln/>
        </p:spPr>
        <p:txBody>
          <a:bodyPr wrap="square" rtlCol="0" anchor="ctr"/>
          <a:lstStyle/>
          <a:p>
            <a:pPr marL="0" indent="0">
              <a:buNone/>
            </a:pPr>
            <a:r>
              <a:rPr lang="en-US" sz="1700" i="1" dirty="0">
                <a:solidFill>
                  <a:srgbClr val="C6D2DE"/>
                </a:solidFill>
                <a:latin typeface="Calibri" pitchFamily="34" charset="0"/>
                <a:ea typeface="Calibri" pitchFamily="34" charset="-122"/>
                <a:cs typeface="Calibri" pitchFamily="34" charset="-120"/>
              </a:rPr>
              <a:t>A practical guide to recognizing, avoiding, and reporting phishing attacks</a:t>
            </a:r>
            <a:endParaRPr lang="en-US" sz="1700" dirty="0"/>
          </a:p>
        </p:txBody>
      </p:sp>
      <p:sp>
        <p:nvSpPr>
          <p:cNvPr id="6" name="Text 4"/>
          <p:cNvSpPr txBox="1"/>
          <p:nvPr/>
        </p:nvSpPr>
        <p:spPr>
          <a:xfrm>
            <a:off x="731520" y="5852160"/>
            <a:ext cx="7315200" cy="365760"/>
          </a:xfrm>
          <a:prstGeom prst="rect">
            <a:avLst/>
          </a:prstGeom>
          <a:noFill/>
          <a:ln/>
        </p:spPr>
        <p:txBody>
          <a:bodyPr wrap="square" rtlCol="0" anchor="ctr"/>
          <a:lstStyle/>
          <a:p>
            <a:pPr marL="0" indent="0">
              <a:buNone/>
            </a:pPr>
            <a:endParaRPr lang="en-US" sz="1300" dirty="0"/>
          </a:p>
        </p:txBody>
      </p:sp>
      <p:sp>
        <p:nvSpPr>
          <p:cNvPr id="7" name="Text 5"/>
          <p:cNvSpPr txBox="1"/>
          <p:nvPr/>
        </p:nvSpPr>
        <p:spPr>
          <a:xfrm>
            <a:off x="731520" y="6217920"/>
            <a:ext cx="9144000" cy="365760"/>
          </a:xfrm>
          <a:prstGeom prst="rect">
            <a:avLst/>
          </a:prstGeom>
          <a:noFill/>
          <a:ln/>
        </p:spPr>
        <p:txBody>
          <a:bodyPr wrap="square" rtlCol="0" anchor="ctr"/>
          <a:lstStyle/>
          <a:p>
            <a:pPr marL="0" indent="0">
              <a:buNone/>
            </a:pPr>
            <a:r>
              <a:rPr lang="en-US" sz="1050" dirty="0">
                <a:solidFill>
                  <a:srgbClr val="7A8CA0"/>
                </a:solidFill>
                <a:latin typeface="Calibri" pitchFamily="34" charset="0"/>
                <a:ea typeface="Calibri" pitchFamily="34" charset="-122"/>
                <a:cs typeface="Calibri" pitchFamily="34" charset="-120"/>
              </a:rPr>
              <a:t>All statistics and cases in this training are drawn from verified sources: FBI, APWG, Microsoft, INTERPOL, NITDA, and U.S. Department of Justice records.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What Is Phishing?</a:t>
            </a:r>
            <a:endParaRPr lang="en-US" sz="2800" dirty="0"/>
          </a:p>
        </p:txBody>
      </p:sp>
      <p:sp>
        <p:nvSpPr>
          <p:cNvPr id="3" name="Text 1"/>
          <p:cNvSpPr txBox="1"/>
          <p:nvPr/>
        </p:nvSpPr>
        <p:spPr>
          <a:xfrm>
            <a:off x="548640" y="1280160"/>
            <a:ext cx="6035040" cy="1371600"/>
          </a:xfrm>
          <a:prstGeom prst="rect">
            <a:avLst/>
          </a:prstGeom>
          <a:noFill/>
          <a:ln/>
        </p:spPr>
        <p:txBody>
          <a:bodyPr wrap="square" rtlCol="0" anchor="ctr"/>
          <a:lstStyle/>
          <a:p>
            <a:pPr marL="0" indent="0">
              <a:buNone/>
            </a:pPr>
            <a:r>
              <a:rPr lang="en-US" sz="1500" dirty="0">
                <a:solidFill>
                  <a:srgbClr val="42484F"/>
                </a:solidFill>
                <a:latin typeface="Calibri" pitchFamily="34" charset="0"/>
                <a:ea typeface="Calibri" pitchFamily="34" charset="-122"/>
                <a:cs typeface="Calibri" pitchFamily="34" charset="-120"/>
              </a:rPr>
              <a:t>Phishing is a scam where a criminal pretends to be a trustworthy person or organization, a bank, a coworker, a government agency, to trick you into giving up sensitive information or installing harmful software.</a:t>
            </a:r>
            <a:endParaRPr lang="en-US" sz="1500" dirty="0"/>
          </a:p>
        </p:txBody>
      </p:sp>
      <p:sp>
        <p:nvSpPr>
          <p:cNvPr id="4" name="Text 2"/>
          <p:cNvSpPr txBox="1"/>
          <p:nvPr/>
        </p:nvSpPr>
        <p:spPr>
          <a:xfrm>
            <a:off x="548640" y="2651760"/>
            <a:ext cx="6035040" cy="1188720"/>
          </a:xfrm>
          <a:prstGeom prst="rect">
            <a:avLst/>
          </a:prstGeom>
          <a:noFill/>
          <a:ln/>
        </p:spPr>
        <p:txBody>
          <a:bodyPr wrap="square" rtlCol="0" anchor="ctr"/>
          <a:lstStyle/>
          <a:p>
            <a:pPr marL="0" indent="0">
              <a:buNone/>
            </a:pPr>
            <a:r>
              <a:rPr lang="en-US" sz="1350" i="1" dirty="0">
                <a:solidFill>
                  <a:srgbClr val="17263B"/>
                </a:solidFill>
                <a:latin typeface="Calibri" pitchFamily="34" charset="0"/>
                <a:ea typeface="Calibri" pitchFamily="34" charset="-122"/>
                <a:cs typeface="Calibri" pitchFamily="34" charset="-120"/>
              </a:rPr>
              <a:t>The name comes from “fishing”, the scammer casts bait and waits for someone to bite. Importantly, phishing usually succeeds by manipulating a person, not by breaking through technology.</a:t>
            </a:r>
            <a:endParaRPr lang="en-US" sz="1350" dirty="0"/>
          </a:p>
        </p:txBody>
      </p:sp>
      <p:sp>
        <p:nvSpPr>
          <p:cNvPr id="5" name="Shape 3"/>
          <p:cNvSpPr/>
          <p:nvPr/>
        </p:nvSpPr>
        <p:spPr>
          <a:xfrm>
            <a:off x="6949440" y="1280160"/>
            <a:ext cx="4663440" cy="1508760"/>
          </a:xfrm>
          <a:prstGeom prst="roundRect">
            <a:avLst>
              <a:gd name="adj" fmla="val 6061"/>
            </a:avLst>
          </a:prstGeom>
          <a:solidFill>
            <a:srgbClr val="F3F5F8"/>
          </a:solidFill>
          <a:ln/>
        </p:spPr>
      </p:sp>
      <p:sp>
        <p:nvSpPr>
          <p:cNvPr id="6" name="Text 4"/>
          <p:cNvSpPr txBox="1"/>
          <p:nvPr/>
        </p:nvSpPr>
        <p:spPr>
          <a:xfrm>
            <a:off x="7178040" y="1389888"/>
            <a:ext cx="4206240" cy="502920"/>
          </a:xfrm>
          <a:prstGeom prst="rect">
            <a:avLst/>
          </a:prstGeom>
          <a:noFill/>
          <a:ln/>
        </p:spPr>
        <p:txBody>
          <a:bodyPr wrap="square" rtlCol="0" anchor="ctr"/>
          <a:lstStyle/>
          <a:p>
            <a:pPr marL="0" indent="0">
              <a:buNone/>
            </a:pPr>
            <a:r>
              <a:rPr lang="en-US" sz="2400" b="1" dirty="0">
                <a:solidFill>
                  <a:srgbClr val="17263B"/>
                </a:solidFill>
                <a:latin typeface="Georgia" pitchFamily="34" charset="0"/>
                <a:ea typeface="Georgia" pitchFamily="34" charset="-122"/>
                <a:cs typeface="Georgia" pitchFamily="34" charset="-120"/>
              </a:rPr>
              <a:t>193,407</a:t>
            </a:r>
            <a:endParaRPr lang="en-US" sz="2400" dirty="0"/>
          </a:p>
        </p:txBody>
      </p:sp>
      <p:sp>
        <p:nvSpPr>
          <p:cNvPr id="7" name="Text 5"/>
          <p:cNvSpPr txBox="1"/>
          <p:nvPr/>
        </p:nvSpPr>
        <p:spPr>
          <a:xfrm>
            <a:off x="7178040" y="1901952"/>
            <a:ext cx="4206240" cy="640080"/>
          </a:xfrm>
          <a:prstGeom prst="rect">
            <a:avLst/>
          </a:prstGeom>
          <a:noFill/>
          <a:ln/>
        </p:spPr>
        <p:txBody>
          <a:bodyPr wrap="square" rtlCol="0" anchor="ctr"/>
          <a:lstStyle/>
          <a:p>
            <a:pPr marL="0" indent="0">
              <a:buNone/>
            </a:pPr>
            <a:r>
              <a:rPr lang="en-US" sz="1050" dirty="0">
                <a:solidFill>
                  <a:srgbClr val="42484F"/>
                </a:solidFill>
                <a:latin typeface="Calibri" pitchFamily="34" charset="0"/>
                <a:ea typeface="Calibri" pitchFamily="34" charset="-122"/>
                <a:cs typeface="Calibri" pitchFamily="34" charset="-120"/>
              </a:rPr>
              <a:t>phishing/spoofing complaints reported to the FBI's Internet Crime Complaint Center (IC3) in 2024, the most of any crime type</a:t>
            </a:r>
            <a:endParaRPr lang="en-US" sz="1050" dirty="0"/>
          </a:p>
        </p:txBody>
      </p:sp>
      <p:sp>
        <p:nvSpPr>
          <p:cNvPr id="8" name="Text 6"/>
          <p:cNvSpPr txBox="1"/>
          <p:nvPr/>
        </p:nvSpPr>
        <p:spPr>
          <a:xfrm>
            <a:off x="7178040" y="2514600"/>
            <a:ext cx="4206240" cy="228600"/>
          </a:xfrm>
          <a:prstGeom prst="rect">
            <a:avLst/>
          </a:prstGeom>
          <a:noFill/>
          <a:ln/>
        </p:spPr>
        <p:txBody>
          <a:bodyPr wrap="square" rtlCol="0" anchor="ctr"/>
          <a:lstStyle/>
          <a:p>
            <a:pPr marL="0" indent="0">
              <a:buNone/>
            </a:pPr>
            <a:r>
              <a:rPr lang="en-US" sz="850" i="1" dirty="0">
                <a:solidFill>
                  <a:srgbClr val="8A97A6"/>
                </a:solidFill>
                <a:latin typeface="Calibri" pitchFamily="34" charset="0"/>
                <a:ea typeface="Calibri" pitchFamily="34" charset="-122"/>
                <a:cs typeface="Calibri" pitchFamily="34" charset="-120"/>
              </a:rPr>
              <a:t>FBI IC3 2024 Report</a:t>
            </a:r>
            <a:endParaRPr lang="en-US" sz="850" dirty="0"/>
          </a:p>
        </p:txBody>
      </p:sp>
      <p:sp>
        <p:nvSpPr>
          <p:cNvPr id="9" name="Shape 7"/>
          <p:cNvSpPr/>
          <p:nvPr/>
        </p:nvSpPr>
        <p:spPr>
          <a:xfrm>
            <a:off x="6949440" y="3017520"/>
            <a:ext cx="4663440" cy="1508760"/>
          </a:xfrm>
          <a:prstGeom prst="roundRect">
            <a:avLst>
              <a:gd name="adj" fmla="val 6061"/>
            </a:avLst>
          </a:prstGeom>
          <a:solidFill>
            <a:srgbClr val="F3F5F8"/>
          </a:solidFill>
          <a:ln/>
        </p:spPr>
      </p:sp>
      <p:sp>
        <p:nvSpPr>
          <p:cNvPr id="10" name="Text 8"/>
          <p:cNvSpPr txBox="1"/>
          <p:nvPr/>
        </p:nvSpPr>
        <p:spPr>
          <a:xfrm>
            <a:off x="7178040" y="3127248"/>
            <a:ext cx="4206240" cy="502920"/>
          </a:xfrm>
          <a:prstGeom prst="rect">
            <a:avLst/>
          </a:prstGeom>
          <a:noFill/>
          <a:ln/>
        </p:spPr>
        <p:txBody>
          <a:bodyPr wrap="square" rtlCol="0" anchor="ctr"/>
          <a:lstStyle/>
          <a:p>
            <a:pPr marL="0" indent="0">
              <a:buNone/>
            </a:pPr>
            <a:r>
              <a:rPr lang="en-US" sz="2400" b="1" dirty="0">
                <a:solidFill>
                  <a:srgbClr val="17263B"/>
                </a:solidFill>
                <a:latin typeface="Georgia" pitchFamily="34" charset="0"/>
                <a:ea typeface="Georgia" pitchFamily="34" charset="-122"/>
                <a:cs typeface="Georgia" pitchFamily="34" charset="-120"/>
              </a:rPr>
              <a:t>1,003,924</a:t>
            </a:r>
            <a:endParaRPr lang="en-US" sz="2400" dirty="0"/>
          </a:p>
        </p:txBody>
      </p:sp>
      <p:sp>
        <p:nvSpPr>
          <p:cNvPr id="11" name="Text 9"/>
          <p:cNvSpPr txBox="1"/>
          <p:nvPr/>
        </p:nvSpPr>
        <p:spPr>
          <a:xfrm>
            <a:off x="7178040" y="3639312"/>
            <a:ext cx="4206240" cy="640080"/>
          </a:xfrm>
          <a:prstGeom prst="rect">
            <a:avLst/>
          </a:prstGeom>
          <a:noFill/>
          <a:ln/>
        </p:spPr>
        <p:txBody>
          <a:bodyPr wrap="square" rtlCol="0" anchor="ctr"/>
          <a:lstStyle/>
          <a:p>
            <a:pPr marL="0" indent="0">
              <a:buNone/>
            </a:pPr>
            <a:r>
              <a:rPr lang="en-US" sz="1050" dirty="0">
                <a:solidFill>
                  <a:srgbClr val="42484F"/>
                </a:solidFill>
                <a:latin typeface="Calibri" pitchFamily="34" charset="0"/>
                <a:ea typeface="Calibri" pitchFamily="34" charset="-122"/>
                <a:cs typeface="Calibri" pitchFamily="34" charset="-120"/>
              </a:rPr>
              <a:t>phishing attacks recorded worldwide by the Anti-Phishing Working Group (APWG) in Q1 2025 alone</a:t>
            </a:r>
            <a:endParaRPr lang="en-US" sz="1050" dirty="0"/>
          </a:p>
        </p:txBody>
      </p:sp>
      <p:sp>
        <p:nvSpPr>
          <p:cNvPr id="12" name="Text 10"/>
          <p:cNvSpPr txBox="1"/>
          <p:nvPr/>
        </p:nvSpPr>
        <p:spPr>
          <a:xfrm>
            <a:off x="7178040" y="4251960"/>
            <a:ext cx="4206240" cy="228600"/>
          </a:xfrm>
          <a:prstGeom prst="rect">
            <a:avLst/>
          </a:prstGeom>
          <a:noFill/>
          <a:ln/>
        </p:spPr>
        <p:txBody>
          <a:bodyPr wrap="square" rtlCol="0" anchor="ctr"/>
          <a:lstStyle/>
          <a:p>
            <a:pPr marL="0" indent="0">
              <a:buNone/>
            </a:pPr>
            <a:r>
              <a:rPr lang="en-US" sz="850" i="1" dirty="0">
                <a:solidFill>
                  <a:srgbClr val="8A97A6"/>
                </a:solidFill>
                <a:latin typeface="Calibri" pitchFamily="34" charset="0"/>
                <a:ea typeface="Calibri" pitchFamily="34" charset="-122"/>
                <a:cs typeface="Calibri" pitchFamily="34" charset="-120"/>
              </a:rPr>
              <a:t>APWG Q1 2025 Report</a:t>
            </a:r>
            <a:endParaRPr lang="en-US" sz="850" dirty="0"/>
          </a:p>
        </p:txBody>
      </p:sp>
      <p:sp>
        <p:nvSpPr>
          <p:cNvPr id="13" name="Text 11"/>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14" name="Text 12"/>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How to Recognize a Phishing Email</a:t>
            </a:r>
            <a:endParaRPr lang="en-US" sz="2800" dirty="0"/>
          </a:p>
        </p:txBody>
      </p:sp>
      <p:sp>
        <p:nvSpPr>
          <p:cNvPr id="3" name="Shape 1"/>
          <p:cNvSpPr/>
          <p:nvPr/>
        </p:nvSpPr>
        <p:spPr>
          <a:xfrm>
            <a:off x="548640" y="1371600"/>
            <a:ext cx="11064240" cy="1143000"/>
          </a:xfrm>
          <a:prstGeom prst="roundRect">
            <a:avLst>
              <a:gd name="adj" fmla="val 6400"/>
            </a:avLst>
          </a:prstGeom>
          <a:solidFill>
            <a:srgbClr val="F3F5F8"/>
          </a:solidFill>
          <a:ln/>
        </p:spPr>
      </p:sp>
      <p:sp>
        <p:nvSpPr>
          <p:cNvPr id="4" name="Shape 2"/>
          <p:cNvSpPr/>
          <p:nvPr/>
        </p:nvSpPr>
        <p:spPr>
          <a:xfrm>
            <a:off x="822960" y="1627632"/>
            <a:ext cx="548640" cy="548640"/>
          </a:xfrm>
          <a:prstGeom prst="ellipse">
            <a:avLst/>
          </a:prstGeom>
          <a:solidFill>
            <a:srgbClr val="17263B"/>
          </a:solidFill>
          <a:ln/>
        </p:spPr>
      </p:sp>
      <p:sp>
        <p:nvSpPr>
          <p:cNvPr id="5" name="Text 3"/>
          <p:cNvSpPr txBox="1"/>
          <p:nvPr/>
        </p:nvSpPr>
        <p:spPr>
          <a:xfrm>
            <a:off x="822960" y="1627632"/>
            <a:ext cx="548640" cy="54864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1</a:t>
            </a:r>
            <a:endParaRPr lang="en-US" sz="1700" dirty="0"/>
          </a:p>
        </p:txBody>
      </p:sp>
      <p:sp>
        <p:nvSpPr>
          <p:cNvPr id="6" name="Text 4"/>
          <p:cNvSpPr txBox="1"/>
          <p:nvPr/>
        </p:nvSpPr>
        <p:spPr>
          <a:xfrm>
            <a:off x="1600200" y="1481328"/>
            <a:ext cx="9692640" cy="32004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Sender address doesn’t quite match</a:t>
            </a:r>
            <a:endParaRPr lang="en-US" sz="1350" dirty="0"/>
          </a:p>
        </p:txBody>
      </p:sp>
      <p:sp>
        <p:nvSpPr>
          <p:cNvPr id="7" name="Text 5"/>
          <p:cNvSpPr txBox="1"/>
          <p:nvPr/>
        </p:nvSpPr>
        <p:spPr>
          <a:xfrm>
            <a:off x="1600200" y="1810512"/>
            <a:ext cx="9692640" cy="594360"/>
          </a:xfrm>
          <a:prstGeom prst="rect">
            <a:avLst/>
          </a:prstGeom>
          <a:noFill/>
          <a:ln/>
        </p:spPr>
        <p:txBody>
          <a:bodyPr wrap="square" rtlCol="0" anchor="ctr"/>
          <a:lstStyle/>
          <a:p>
            <a:pPr marL="0" indent="0">
              <a:buNone/>
            </a:pPr>
            <a:r>
              <a:rPr lang="en-US" sz="1150" dirty="0">
                <a:solidFill>
                  <a:srgbClr val="42484F"/>
                </a:solidFill>
                <a:latin typeface="Calibri" pitchFamily="34" charset="0"/>
                <a:ea typeface="Calibri" pitchFamily="34" charset="-122"/>
                <a:cs typeface="Calibri" pitchFamily="34" charset="-120"/>
              </a:rPr>
              <a:t>Lookalike domains like yourb4nk.com (a “4” instead of “a”) instead of yourbank.com. The display name can say anything, always check the actual email address.</a:t>
            </a:r>
            <a:endParaRPr lang="en-US" sz="1150" dirty="0"/>
          </a:p>
        </p:txBody>
      </p:sp>
      <p:sp>
        <p:nvSpPr>
          <p:cNvPr id="8" name="Shape 6"/>
          <p:cNvSpPr/>
          <p:nvPr/>
        </p:nvSpPr>
        <p:spPr>
          <a:xfrm>
            <a:off x="548640" y="2651760"/>
            <a:ext cx="11064240" cy="1143000"/>
          </a:xfrm>
          <a:prstGeom prst="roundRect">
            <a:avLst>
              <a:gd name="adj" fmla="val 6400"/>
            </a:avLst>
          </a:prstGeom>
          <a:solidFill>
            <a:srgbClr val="FFFFFF"/>
          </a:solidFill>
          <a:ln/>
        </p:spPr>
      </p:sp>
      <p:sp>
        <p:nvSpPr>
          <p:cNvPr id="9" name="Shape 7"/>
          <p:cNvSpPr/>
          <p:nvPr/>
        </p:nvSpPr>
        <p:spPr>
          <a:xfrm>
            <a:off x="822960" y="2907792"/>
            <a:ext cx="548640" cy="548640"/>
          </a:xfrm>
          <a:prstGeom prst="ellipse">
            <a:avLst/>
          </a:prstGeom>
          <a:solidFill>
            <a:srgbClr val="17263B"/>
          </a:solidFill>
          <a:ln/>
        </p:spPr>
      </p:sp>
      <p:sp>
        <p:nvSpPr>
          <p:cNvPr id="10" name="Text 8"/>
          <p:cNvSpPr txBox="1"/>
          <p:nvPr/>
        </p:nvSpPr>
        <p:spPr>
          <a:xfrm>
            <a:off x="822960" y="2907792"/>
            <a:ext cx="548640" cy="54864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2</a:t>
            </a:r>
            <a:endParaRPr lang="en-US" sz="1700" dirty="0"/>
          </a:p>
        </p:txBody>
      </p:sp>
      <p:sp>
        <p:nvSpPr>
          <p:cNvPr id="11" name="Text 9"/>
          <p:cNvSpPr txBox="1"/>
          <p:nvPr/>
        </p:nvSpPr>
        <p:spPr>
          <a:xfrm>
            <a:off x="1600200" y="2761488"/>
            <a:ext cx="9692640" cy="32004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Urgency and fear</a:t>
            </a:r>
            <a:endParaRPr lang="en-US" sz="1350" dirty="0"/>
          </a:p>
        </p:txBody>
      </p:sp>
      <p:sp>
        <p:nvSpPr>
          <p:cNvPr id="12" name="Text 10"/>
          <p:cNvSpPr txBox="1"/>
          <p:nvPr/>
        </p:nvSpPr>
        <p:spPr>
          <a:xfrm>
            <a:off x="1600200" y="3090672"/>
            <a:ext cx="9692640" cy="594360"/>
          </a:xfrm>
          <a:prstGeom prst="rect">
            <a:avLst/>
          </a:prstGeom>
          <a:noFill/>
          <a:ln/>
        </p:spPr>
        <p:txBody>
          <a:bodyPr wrap="square" rtlCol="0" anchor="ctr"/>
          <a:lstStyle/>
          <a:p>
            <a:pPr marL="0" indent="0">
              <a:buNone/>
            </a:pPr>
            <a:r>
              <a:rPr lang="en-US" sz="1150" dirty="0">
                <a:solidFill>
                  <a:srgbClr val="42484F"/>
                </a:solidFill>
                <a:latin typeface="Calibri" pitchFamily="34" charset="0"/>
                <a:ea typeface="Calibri" pitchFamily="34" charset="-122"/>
                <a:cs typeface="Calibri" pitchFamily="34" charset="-120"/>
              </a:rPr>
              <a:t>“Your account will be suspended in 24 hours.” Emotional pressure is designed to make you act before you think.</a:t>
            </a:r>
            <a:endParaRPr lang="en-US" sz="1150" dirty="0"/>
          </a:p>
        </p:txBody>
      </p:sp>
      <p:sp>
        <p:nvSpPr>
          <p:cNvPr id="13" name="Shape 11"/>
          <p:cNvSpPr/>
          <p:nvPr/>
        </p:nvSpPr>
        <p:spPr>
          <a:xfrm>
            <a:off x="548640" y="3931920"/>
            <a:ext cx="11064240" cy="1143000"/>
          </a:xfrm>
          <a:prstGeom prst="roundRect">
            <a:avLst>
              <a:gd name="adj" fmla="val 6400"/>
            </a:avLst>
          </a:prstGeom>
          <a:solidFill>
            <a:srgbClr val="F3F5F8"/>
          </a:solidFill>
          <a:ln/>
        </p:spPr>
      </p:sp>
      <p:sp>
        <p:nvSpPr>
          <p:cNvPr id="14" name="Shape 12"/>
          <p:cNvSpPr/>
          <p:nvPr/>
        </p:nvSpPr>
        <p:spPr>
          <a:xfrm>
            <a:off x="822960" y="4187952"/>
            <a:ext cx="548640" cy="548640"/>
          </a:xfrm>
          <a:prstGeom prst="ellipse">
            <a:avLst/>
          </a:prstGeom>
          <a:solidFill>
            <a:srgbClr val="17263B"/>
          </a:solidFill>
          <a:ln/>
        </p:spPr>
      </p:sp>
      <p:sp>
        <p:nvSpPr>
          <p:cNvPr id="15" name="Text 13"/>
          <p:cNvSpPr txBox="1"/>
          <p:nvPr/>
        </p:nvSpPr>
        <p:spPr>
          <a:xfrm>
            <a:off x="822960" y="4187952"/>
            <a:ext cx="548640" cy="54864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3</a:t>
            </a:r>
            <a:endParaRPr lang="en-US" sz="1700" dirty="0"/>
          </a:p>
        </p:txBody>
      </p:sp>
      <p:sp>
        <p:nvSpPr>
          <p:cNvPr id="16" name="Text 14"/>
          <p:cNvSpPr txBox="1"/>
          <p:nvPr/>
        </p:nvSpPr>
        <p:spPr>
          <a:xfrm>
            <a:off x="1600200" y="4041648"/>
            <a:ext cx="9692640" cy="32004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Requests for passwords or codes</a:t>
            </a:r>
            <a:endParaRPr lang="en-US" sz="1350" dirty="0"/>
          </a:p>
        </p:txBody>
      </p:sp>
      <p:sp>
        <p:nvSpPr>
          <p:cNvPr id="17" name="Text 15"/>
          <p:cNvSpPr txBox="1"/>
          <p:nvPr/>
        </p:nvSpPr>
        <p:spPr>
          <a:xfrm>
            <a:off x="1600200" y="4370832"/>
            <a:ext cx="9692640" cy="594360"/>
          </a:xfrm>
          <a:prstGeom prst="rect">
            <a:avLst/>
          </a:prstGeom>
          <a:noFill/>
          <a:ln/>
        </p:spPr>
        <p:txBody>
          <a:bodyPr wrap="square" rtlCol="0" anchor="ctr"/>
          <a:lstStyle/>
          <a:p>
            <a:pPr marL="0" indent="0">
              <a:buNone/>
            </a:pPr>
            <a:r>
              <a:rPr lang="en-US" sz="1150" dirty="0">
                <a:solidFill>
                  <a:srgbClr val="42484F"/>
                </a:solidFill>
                <a:latin typeface="Calibri" pitchFamily="34" charset="0"/>
                <a:ea typeface="Calibri" pitchFamily="34" charset="-122"/>
                <a:cs typeface="Calibri" pitchFamily="34" charset="-120"/>
              </a:rPr>
              <a:t>Legitimate banks and companies never ask for your password, PIN, or one-time passcode (OTP) by email, text, or phone.</a:t>
            </a:r>
            <a:endParaRPr lang="en-US" sz="1150" dirty="0"/>
          </a:p>
        </p:txBody>
      </p:sp>
      <p:sp>
        <p:nvSpPr>
          <p:cNvPr id="18" name="Shape 16"/>
          <p:cNvSpPr/>
          <p:nvPr/>
        </p:nvSpPr>
        <p:spPr>
          <a:xfrm>
            <a:off x="548640" y="5212080"/>
            <a:ext cx="11064240" cy="1143000"/>
          </a:xfrm>
          <a:prstGeom prst="roundRect">
            <a:avLst>
              <a:gd name="adj" fmla="val 6400"/>
            </a:avLst>
          </a:prstGeom>
          <a:solidFill>
            <a:srgbClr val="FFFFFF"/>
          </a:solidFill>
          <a:ln/>
        </p:spPr>
      </p:sp>
      <p:sp>
        <p:nvSpPr>
          <p:cNvPr id="19" name="Shape 17"/>
          <p:cNvSpPr/>
          <p:nvPr/>
        </p:nvSpPr>
        <p:spPr>
          <a:xfrm>
            <a:off x="822960" y="5468112"/>
            <a:ext cx="548640" cy="548640"/>
          </a:xfrm>
          <a:prstGeom prst="ellipse">
            <a:avLst/>
          </a:prstGeom>
          <a:solidFill>
            <a:srgbClr val="17263B"/>
          </a:solidFill>
          <a:ln/>
        </p:spPr>
      </p:sp>
      <p:sp>
        <p:nvSpPr>
          <p:cNvPr id="20" name="Text 18"/>
          <p:cNvSpPr txBox="1"/>
          <p:nvPr/>
        </p:nvSpPr>
        <p:spPr>
          <a:xfrm>
            <a:off x="822960" y="5468112"/>
            <a:ext cx="548640" cy="54864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4</a:t>
            </a:r>
            <a:endParaRPr lang="en-US" sz="1700" dirty="0"/>
          </a:p>
        </p:txBody>
      </p:sp>
      <p:sp>
        <p:nvSpPr>
          <p:cNvPr id="21" name="Text 19"/>
          <p:cNvSpPr txBox="1"/>
          <p:nvPr/>
        </p:nvSpPr>
        <p:spPr>
          <a:xfrm>
            <a:off x="1600200" y="5321808"/>
            <a:ext cx="9692640" cy="32004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Suspicious links or attachments</a:t>
            </a:r>
            <a:endParaRPr lang="en-US" sz="1350" dirty="0"/>
          </a:p>
        </p:txBody>
      </p:sp>
      <p:sp>
        <p:nvSpPr>
          <p:cNvPr id="22" name="Text 20"/>
          <p:cNvSpPr txBox="1"/>
          <p:nvPr/>
        </p:nvSpPr>
        <p:spPr>
          <a:xfrm>
            <a:off x="1600200" y="5650992"/>
            <a:ext cx="9692640" cy="594360"/>
          </a:xfrm>
          <a:prstGeom prst="rect">
            <a:avLst/>
          </a:prstGeom>
          <a:noFill/>
          <a:ln/>
        </p:spPr>
        <p:txBody>
          <a:bodyPr wrap="square" rtlCol="0" anchor="ctr"/>
          <a:lstStyle/>
          <a:p>
            <a:pPr marL="0" indent="0">
              <a:buNone/>
            </a:pPr>
            <a:r>
              <a:rPr lang="en-US" sz="1150" dirty="0">
                <a:solidFill>
                  <a:srgbClr val="42484F"/>
                </a:solidFill>
                <a:latin typeface="Calibri" pitchFamily="34" charset="0"/>
                <a:ea typeface="Calibri" pitchFamily="34" charset="-122"/>
                <a:cs typeface="Calibri" pitchFamily="34" charset="-120"/>
              </a:rPr>
              <a:t>Hover over a link (without clicking) to see its real destination. Unexpected attachments can carry malware (harmful software).</a:t>
            </a:r>
            <a:endParaRPr lang="en-US" sz="1150" dirty="0"/>
          </a:p>
        </p:txBody>
      </p:sp>
      <p:sp>
        <p:nvSpPr>
          <p:cNvPr id="23" name="Text 21"/>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24" name="Text 22"/>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Example: Spot the Red Flags</a:t>
            </a:r>
            <a:endParaRPr lang="en-US" sz="2800" dirty="0"/>
          </a:p>
        </p:txBody>
      </p:sp>
      <p:sp>
        <p:nvSpPr>
          <p:cNvPr id="3" name="Shape 1"/>
          <p:cNvSpPr/>
          <p:nvPr/>
        </p:nvSpPr>
        <p:spPr>
          <a:xfrm>
            <a:off x="548640" y="1371600"/>
            <a:ext cx="6949440" cy="4846320"/>
          </a:xfrm>
          <a:prstGeom prst="roundRect">
            <a:avLst>
              <a:gd name="adj" fmla="val 1509"/>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sp>
      <p:sp>
        <p:nvSpPr>
          <p:cNvPr id="4" name="Text 2"/>
          <p:cNvSpPr txBox="1"/>
          <p:nvPr/>
        </p:nvSpPr>
        <p:spPr>
          <a:xfrm>
            <a:off x="822960" y="1554480"/>
            <a:ext cx="6400800" cy="320040"/>
          </a:xfrm>
          <a:prstGeom prst="rect">
            <a:avLst/>
          </a:prstGeom>
          <a:noFill/>
          <a:ln/>
        </p:spPr>
        <p:txBody>
          <a:bodyPr wrap="square" rtlCol="0" anchor="ctr"/>
          <a:lstStyle/>
          <a:p>
            <a:pPr marL="0" indent="0">
              <a:buNone/>
            </a:pPr>
            <a:r>
              <a:rPr lang="en-US" sz="1100" b="1" dirty="0">
                <a:solidFill>
                  <a:srgbClr val="AE2E2E"/>
                </a:solidFill>
                <a:latin typeface="Courier New" pitchFamily="34" charset="0"/>
                <a:ea typeface="Courier New" pitchFamily="34" charset="-122"/>
                <a:cs typeface="Courier New" pitchFamily="34" charset="-120"/>
              </a:rPr>
              <a:t>From: security-alert@yourb4nk.com</a:t>
            </a:r>
            <a:endParaRPr lang="en-US" sz="1100" dirty="0"/>
          </a:p>
        </p:txBody>
      </p:sp>
      <p:sp>
        <p:nvSpPr>
          <p:cNvPr id="5" name="Text 3"/>
          <p:cNvSpPr txBox="1"/>
          <p:nvPr/>
        </p:nvSpPr>
        <p:spPr>
          <a:xfrm>
            <a:off x="822960" y="1920240"/>
            <a:ext cx="6400800" cy="320040"/>
          </a:xfrm>
          <a:prstGeom prst="rect">
            <a:avLst/>
          </a:prstGeom>
          <a:noFill/>
          <a:ln/>
        </p:spPr>
        <p:txBody>
          <a:bodyPr wrap="square" rtlCol="0" anchor="ctr"/>
          <a:lstStyle/>
          <a:p>
            <a:pPr marL="0" indent="0">
              <a:buNone/>
            </a:pPr>
            <a:r>
              <a:rPr lang="en-US" sz="1100" b="1" dirty="0">
                <a:solidFill>
                  <a:srgbClr val="AE2E2E"/>
                </a:solidFill>
                <a:latin typeface="Courier New" pitchFamily="34" charset="0"/>
                <a:ea typeface="Courier New" pitchFamily="34" charset="-122"/>
                <a:cs typeface="Courier New" pitchFamily="34" charset="-120"/>
              </a:rPr>
              <a:t>Subject: URGENT: Your account will be suspended in 24 hours!</a:t>
            </a:r>
            <a:endParaRPr lang="en-US" sz="1100" dirty="0"/>
          </a:p>
        </p:txBody>
      </p:sp>
      <p:sp>
        <p:nvSpPr>
          <p:cNvPr id="6" name="Shape 4"/>
          <p:cNvSpPr/>
          <p:nvPr/>
        </p:nvSpPr>
        <p:spPr>
          <a:xfrm>
            <a:off x="822960" y="2331720"/>
            <a:ext cx="6400800" cy="0"/>
          </a:xfrm>
          <a:prstGeom prst="line">
            <a:avLst/>
          </a:prstGeom>
          <a:noFill/>
          <a:ln w="12700">
            <a:solidFill>
              <a:srgbClr val="E0E0E0"/>
            </a:solidFill>
            <a:prstDash val="solid"/>
          </a:ln>
        </p:spPr>
      </p:sp>
      <p:sp>
        <p:nvSpPr>
          <p:cNvPr id="7" name="Text 5"/>
          <p:cNvSpPr txBox="1"/>
          <p:nvPr/>
        </p:nvSpPr>
        <p:spPr>
          <a:xfrm>
            <a:off x="822960" y="2514600"/>
            <a:ext cx="6400800" cy="27432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Dear Customer,</a:t>
            </a:r>
            <a:endParaRPr lang="en-US" sz="1150" dirty="0"/>
          </a:p>
        </p:txBody>
      </p:sp>
      <p:sp>
        <p:nvSpPr>
          <p:cNvPr id="8" name="Text 6"/>
          <p:cNvSpPr txBox="1"/>
          <p:nvPr/>
        </p:nvSpPr>
        <p:spPr>
          <a:xfrm>
            <a:off x="822960" y="2788920"/>
            <a:ext cx="6400800" cy="64008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We have detected unusual activity on your account. You must verify your identity immediately or your account will be permanently suspended.</a:t>
            </a:r>
            <a:endParaRPr lang="en-US" sz="1150" dirty="0"/>
          </a:p>
        </p:txBody>
      </p:sp>
      <p:sp>
        <p:nvSpPr>
          <p:cNvPr id="9" name="Text 7"/>
          <p:cNvSpPr txBox="1"/>
          <p:nvPr/>
        </p:nvSpPr>
        <p:spPr>
          <a:xfrm>
            <a:off x="822960" y="3429000"/>
            <a:ext cx="6400800" cy="320040"/>
          </a:xfrm>
          <a:prstGeom prst="rect">
            <a:avLst/>
          </a:prstGeom>
          <a:noFill/>
          <a:ln/>
        </p:spPr>
        <p:txBody>
          <a:bodyPr wrap="square" rtlCol="0" anchor="ctr"/>
          <a:lstStyle/>
          <a:p>
            <a:pPr marL="0" indent="0">
              <a:buNone/>
            </a:pPr>
            <a:r>
              <a:rPr lang="en-US" sz="1150" u="sng" dirty="0">
                <a:solidFill>
                  <a:srgbClr val="1155CC"/>
                </a:solidFill>
                <a:latin typeface="Calibri" pitchFamily="34" charset="0"/>
                <a:ea typeface="Calibri" pitchFamily="34" charset="-122"/>
                <a:cs typeface="Calibri" pitchFamily="34" charset="-120"/>
              </a:rPr>
              <a:t>Click here to verify your account: http://yourb4nk-secure-login.net</a:t>
            </a:r>
            <a:endParaRPr lang="en-US" sz="1150" dirty="0"/>
          </a:p>
        </p:txBody>
      </p:sp>
      <p:sp>
        <p:nvSpPr>
          <p:cNvPr id="10" name="Text 8"/>
          <p:cNvSpPr txBox="1"/>
          <p:nvPr/>
        </p:nvSpPr>
        <p:spPr>
          <a:xfrm>
            <a:off x="822960" y="3794760"/>
            <a:ext cx="6400800" cy="320040"/>
          </a:xfrm>
          <a:prstGeom prst="rect">
            <a:avLst/>
          </a:prstGeom>
          <a:noFill/>
          <a:ln/>
        </p:spPr>
        <p:txBody>
          <a:bodyPr wrap="square" rtlCol="0" anchor="ctr"/>
          <a:lstStyle/>
          <a:p>
            <a:pPr marL="0" indent="0">
              <a:buNone/>
            </a:pPr>
            <a:r>
              <a:rPr lang="en-US" sz="1150" i="1" dirty="0">
                <a:solidFill>
                  <a:srgbClr val="333333"/>
                </a:solidFill>
                <a:latin typeface="Calibri" pitchFamily="34" charset="0"/>
                <a:ea typeface="Calibri" pitchFamily="34" charset="-122"/>
                <a:cs typeface="Calibri" pitchFamily="34" charset="-120"/>
              </a:rPr>
              <a:t>Failure to act within 24 hours will result in permanent account closure.</a:t>
            </a:r>
            <a:endParaRPr lang="en-US" sz="1150" dirty="0"/>
          </a:p>
        </p:txBody>
      </p:sp>
      <p:sp>
        <p:nvSpPr>
          <p:cNvPr id="11" name="Text 9"/>
          <p:cNvSpPr txBox="1"/>
          <p:nvPr/>
        </p:nvSpPr>
        <p:spPr>
          <a:xfrm>
            <a:off x="822960" y="4206240"/>
            <a:ext cx="6400800" cy="274320"/>
          </a:xfrm>
          <a:prstGeom prst="rect">
            <a:avLst/>
          </a:prstGeom>
          <a:noFill/>
          <a:ln/>
        </p:spPr>
        <p:txBody>
          <a:bodyPr wrap="square" rtlCol="0" anchor="ctr"/>
          <a:lstStyle/>
          <a:p>
            <a:pPr marL="0" indent="0">
              <a:buNone/>
            </a:pPr>
            <a:r>
              <a:rPr lang="en-US" sz="1050" dirty="0">
                <a:solidFill>
                  <a:srgbClr val="666666"/>
                </a:solidFill>
                <a:latin typeface="Courier New" pitchFamily="34" charset="0"/>
                <a:ea typeface="Courier New" pitchFamily="34" charset="-122"/>
                <a:cs typeface="Courier New" pitchFamily="34" charset="-120"/>
              </a:rPr>
              <a:t>Attachment: Account_Verification_Form.exe</a:t>
            </a:r>
            <a:endParaRPr lang="en-US" sz="1050" dirty="0"/>
          </a:p>
        </p:txBody>
      </p:sp>
      <p:sp>
        <p:nvSpPr>
          <p:cNvPr id="12" name="Text 10"/>
          <p:cNvSpPr txBox="1"/>
          <p:nvPr/>
        </p:nvSpPr>
        <p:spPr>
          <a:xfrm>
            <a:off x="822960" y="4572000"/>
            <a:ext cx="6400800" cy="54864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Thank you,</a:t>
            </a:r>
            <a:endParaRPr lang="en-US" sz="1150" dirty="0"/>
          </a:p>
          <a:p>
            <a:pPr marL="0" indent="0">
              <a:buNone/>
            </a:pPr>
            <a:r>
              <a:rPr lang="en-US" sz="1150" dirty="0">
                <a:solidFill>
                  <a:srgbClr val="333333"/>
                </a:solidFill>
                <a:latin typeface="Calibri" pitchFamily="34" charset="0"/>
                <a:ea typeface="Calibri" pitchFamily="34" charset="-122"/>
                <a:cs typeface="Calibri" pitchFamily="34" charset="-120"/>
              </a:rPr>
              <a:t>YourBank Security Team</a:t>
            </a:r>
            <a:endParaRPr lang="en-US" sz="1150" dirty="0"/>
          </a:p>
        </p:txBody>
      </p:sp>
      <p:sp>
        <p:nvSpPr>
          <p:cNvPr id="13" name="Text 11"/>
          <p:cNvSpPr txBox="1"/>
          <p:nvPr/>
        </p:nvSpPr>
        <p:spPr>
          <a:xfrm>
            <a:off x="822960" y="5852160"/>
            <a:ext cx="6400800" cy="274320"/>
          </a:xfrm>
          <a:prstGeom prst="rect">
            <a:avLst/>
          </a:prstGeom>
          <a:noFill/>
          <a:ln/>
        </p:spPr>
        <p:txBody>
          <a:bodyPr wrap="square" rtlCol="0" anchor="ctr"/>
          <a:lstStyle/>
          <a:p>
            <a:pPr marL="0" indent="0">
              <a:buNone/>
            </a:pPr>
            <a:r>
              <a:rPr lang="en-GB" sz="900" b="0" i="1" u="none" strike="noStrike" dirty="0">
                <a:effectLst/>
                <a:latin typeface="quote-cjk-patch"/>
              </a:rPr>
              <a:t>This is a fictional, illustrative example built for training purposes. The red flags shown are based on real phishing patterns documented by the FBI IC3, APWG, and CISA.</a:t>
            </a:r>
            <a:endParaRPr lang="en-US" sz="900" i="1" dirty="0"/>
          </a:p>
        </p:txBody>
      </p:sp>
      <p:sp>
        <p:nvSpPr>
          <p:cNvPr id="14" name="Text 12"/>
          <p:cNvSpPr txBox="1"/>
          <p:nvPr/>
        </p:nvSpPr>
        <p:spPr>
          <a:xfrm>
            <a:off x="7772400" y="1417320"/>
            <a:ext cx="3840480" cy="365760"/>
          </a:xfrm>
          <a:prstGeom prst="rect">
            <a:avLst/>
          </a:prstGeom>
          <a:noFill/>
          <a:ln/>
        </p:spPr>
        <p:txBody>
          <a:bodyPr wrap="square" rtlCol="0" anchor="ctr"/>
          <a:lstStyle/>
          <a:p>
            <a:pPr marL="0" indent="0">
              <a:buNone/>
            </a:pPr>
            <a:r>
              <a:rPr lang="en-US" sz="1400" b="1" dirty="0">
                <a:solidFill>
                  <a:srgbClr val="AE2E2E"/>
                </a:solidFill>
                <a:latin typeface="Calibri" pitchFamily="34" charset="0"/>
                <a:ea typeface="Calibri" pitchFamily="34" charset="-122"/>
                <a:cs typeface="Calibri" pitchFamily="34" charset="-120"/>
              </a:rPr>
              <a:t>Red Flags in This Email</a:t>
            </a:r>
            <a:endParaRPr lang="en-US" sz="1400" dirty="0"/>
          </a:p>
        </p:txBody>
      </p:sp>
      <p:sp>
        <p:nvSpPr>
          <p:cNvPr id="15" name="Shape 13"/>
          <p:cNvSpPr/>
          <p:nvPr/>
        </p:nvSpPr>
        <p:spPr>
          <a:xfrm>
            <a:off x="7772400" y="1947672"/>
            <a:ext cx="128016" cy="128016"/>
          </a:xfrm>
          <a:prstGeom prst="ellipse">
            <a:avLst/>
          </a:prstGeom>
          <a:solidFill>
            <a:srgbClr val="AE2E2E"/>
          </a:solidFill>
          <a:ln/>
        </p:spPr>
      </p:sp>
      <p:sp>
        <p:nvSpPr>
          <p:cNvPr id="16" name="Text 14"/>
          <p:cNvSpPr txBox="1"/>
          <p:nvPr/>
        </p:nvSpPr>
        <p:spPr>
          <a:xfrm>
            <a:off x="8065008" y="1847088"/>
            <a:ext cx="3566160" cy="59436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Misspelled domain (“yourb4nk” uses a 4, not an a)</a:t>
            </a:r>
            <a:endParaRPr lang="en-US" sz="1100" dirty="0"/>
          </a:p>
        </p:txBody>
      </p:sp>
      <p:sp>
        <p:nvSpPr>
          <p:cNvPr id="17" name="Shape 15"/>
          <p:cNvSpPr/>
          <p:nvPr/>
        </p:nvSpPr>
        <p:spPr>
          <a:xfrm>
            <a:off x="7772400" y="2606040"/>
            <a:ext cx="128016" cy="128016"/>
          </a:xfrm>
          <a:prstGeom prst="ellipse">
            <a:avLst/>
          </a:prstGeom>
          <a:solidFill>
            <a:srgbClr val="AE2E2E"/>
          </a:solidFill>
          <a:ln/>
        </p:spPr>
      </p:sp>
      <p:sp>
        <p:nvSpPr>
          <p:cNvPr id="18" name="Text 16"/>
          <p:cNvSpPr txBox="1"/>
          <p:nvPr/>
        </p:nvSpPr>
        <p:spPr>
          <a:xfrm>
            <a:off x="8065008" y="2505456"/>
            <a:ext cx="3566160" cy="59436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Urgent, threatening subject line</a:t>
            </a:r>
            <a:endParaRPr lang="en-US" sz="1100" dirty="0"/>
          </a:p>
        </p:txBody>
      </p:sp>
      <p:sp>
        <p:nvSpPr>
          <p:cNvPr id="19" name="Shape 17"/>
          <p:cNvSpPr/>
          <p:nvPr/>
        </p:nvSpPr>
        <p:spPr>
          <a:xfrm>
            <a:off x="7772400" y="3264408"/>
            <a:ext cx="128016" cy="128016"/>
          </a:xfrm>
          <a:prstGeom prst="ellipse">
            <a:avLst/>
          </a:prstGeom>
          <a:solidFill>
            <a:srgbClr val="AE2E2E"/>
          </a:solidFill>
          <a:ln/>
        </p:spPr>
      </p:sp>
      <p:sp>
        <p:nvSpPr>
          <p:cNvPr id="20" name="Text 18"/>
          <p:cNvSpPr txBox="1"/>
          <p:nvPr/>
        </p:nvSpPr>
        <p:spPr>
          <a:xfrm>
            <a:off x="8065008" y="3163824"/>
            <a:ext cx="3566160" cy="59436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Generic greeting, not your name</a:t>
            </a:r>
            <a:endParaRPr lang="en-US" sz="1100" dirty="0"/>
          </a:p>
        </p:txBody>
      </p:sp>
      <p:sp>
        <p:nvSpPr>
          <p:cNvPr id="21" name="Shape 19"/>
          <p:cNvSpPr/>
          <p:nvPr/>
        </p:nvSpPr>
        <p:spPr>
          <a:xfrm>
            <a:off x="7772400" y="3922776"/>
            <a:ext cx="128016" cy="128016"/>
          </a:xfrm>
          <a:prstGeom prst="ellipse">
            <a:avLst/>
          </a:prstGeom>
          <a:solidFill>
            <a:srgbClr val="AE2E2E"/>
          </a:solidFill>
          <a:ln/>
        </p:spPr>
      </p:sp>
      <p:sp>
        <p:nvSpPr>
          <p:cNvPr id="22" name="Text 20"/>
          <p:cNvSpPr txBox="1"/>
          <p:nvPr/>
        </p:nvSpPr>
        <p:spPr>
          <a:xfrm>
            <a:off x="8065008" y="3822192"/>
            <a:ext cx="3566160" cy="59436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Link goes to a different domain than the sender</a:t>
            </a:r>
            <a:endParaRPr lang="en-US" sz="1100" dirty="0"/>
          </a:p>
        </p:txBody>
      </p:sp>
      <p:sp>
        <p:nvSpPr>
          <p:cNvPr id="23" name="Shape 21"/>
          <p:cNvSpPr/>
          <p:nvPr/>
        </p:nvSpPr>
        <p:spPr>
          <a:xfrm>
            <a:off x="7772400" y="4581144"/>
            <a:ext cx="128016" cy="128016"/>
          </a:xfrm>
          <a:prstGeom prst="ellipse">
            <a:avLst/>
          </a:prstGeom>
          <a:solidFill>
            <a:srgbClr val="AE2E2E"/>
          </a:solidFill>
          <a:ln/>
        </p:spPr>
      </p:sp>
      <p:sp>
        <p:nvSpPr>
          <p:cNvPr id="24" name="Text 22"/>
          <p:cNvSpPr txBox="1"/>
          <p:nvPr/>
        </p:nvSpPr>
        <p:spPr>
          <a:xfrm>
            <a:off x="8065008" y="4480560"/>
            <a:ext cx="3566160" cy="59436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Pressure to act within a short deadline</a:t>
            </a:r>
            <a:endParaRPr lang="en-US" sz="1100" dirty="0"/>
          </a:p>
        </p:txBody>
      </p:sp>
      <p:sp>
        <p:nvSpPr>
          <p:cNvPr id="25" name="Shape 23"/>
          <p:cNvSpPr/>
          <p:nvPr/>
        </p:nvSpPr>
        <p:spPr>
          <a:xfrm>
            <a:off x="7772400" y="5239512"/>
            <a:ext cx="128016" cy="128016"/>
          </a:xfrm>
          <a:prstGeom prst="ellipse">
            <a:avLst/>
          </a:prstGeom>
          <a:solidFill>
            <a:srgbClr val="AE2E2E"/>
          </a:solidFill>
          <a:ln/>
        </p:spPr>
      </p:sp>
      <p:sp>
        <p:nvSpPr>
          <p:cNvPr id="26" name="Text 24"/>
          <p:cNvSpPr txBox="1"/>
          <p:nvPr/>
        </p:nvSpPr>
        <p:spPr>
          <a:xfrm>
            <a:off x="8065008" y="5138928"/>
            <a:ext cx="3566160" cy="59436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Suspicious attachment (.exe file)</a:t>
            </a:r>
            <a:endParaRPr lang="en-US" sz="1100" dirty="0"/>
          </a:p>
        </p:txBody>
      </p:sp>
      <p:sp>
        <p:nvSpPr>
          <p:cNvPr id="27" name="Text 25"/>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28" name="Text 26"/>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How to Recognize a Fake Website</a:t>
            </a:r>
            <a:endParaRPr lang="en-US" sz="2800" dirty="0"/>
          </a:p>
        </p:txBody>
      </p:sp>
      <p:sp>
        <p:nvSpPr>
          <p:cNvPr id="3" name="Shape 1"/>
          <p:cNvSpPr/>
          <p:nvPr/>
        </p:nvSpPr>
        <p:spPr>
          <a:xfrm>
            <a:off x="548640" y="1463040"/>
            <a:ext cx="11064240" cy="1051560"/>
          </a:xfrm>
          <a:prstGeom prst="roundRect">
            <a:avLst>
              <a:gd name="adj" fmla="val 6957"/>
            </a:avLst>
          </a:prstGeom>
          <a:solidFill>
            <a:srgbClr val="F3F5F8"/>
          </a:solidFill>
          <a:ln/>
        </p:spPr>
      </p:sp>
      <p:sp>
        <p:nvSpPr>
          <p:cNvPr id="4" name="Shape 2"/>
          <p:cNvSpPr/>
          <p:nvPr/>
        </p:nvSpPr>
        <p:spPr>
          <a:xfrm>
            <a:off x="822960" y="1691640"/>
            <a:ext cx="548640" cy="548640"/>
          </a:xfrm>
          <a:prstGeom prst="ellipse">
            <a:avLst/>
          </a:prstGeom>
          <a:solidFill>
            <a:srgbClr val="2E7D5B"/>
          </a:solidFill>
          <a:ln/>
        </p:spPr>
      </p:sp>
      <p:sp>
        <p:nvSpPr>
          <p:cNvPr id="5" name="Text 3"/>
          <p:cNvSpPr txBox="1"/>
          <p:nvPr/>
        </p:nvSpPr>
        <p:spPr>
          <a:xfrm>
            <a:off x="822960" y="1691640"/>
            <a:ext cx="548640" cy="54864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1</a:t>
            </a:r>
            <a:endParaRPr lang="en-US" sz="1700" dirty="0"/>
          </a:p>
        </p:txBody>
      </p:sp>
      <p:sp>
        <p:nvSpPr>
          <p:cNvPr id="6" name="Text 4"/>
          <p:cNvSpPr txBox="1"/>
          <p:nvPr/>
        </p:nvSpPr>
        <p:spPr>
          <a:xfrm>
            <a:off x="1600200" y="1554480"/>
            <a:ext cx="9692640" cy="32004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Check the web address carefully</a:t>
            </a:r>
            <a:endParaRPr lang="en-US" sz="1350" dirty="0"/>
          </a:p>
        </p:txBody>
      </p:sp>
      <p:sp>
        <p:nvSpPr>
          <p:cNvPr id="7" name="Text 5"/>
          <p:cNvSpPr txBox="1"/>
          <p:nvPr/>
        </p:nvSpPr>
        <p:spPr>
          <a:xfrm>
            <a:off x="1600200" y="1892808"/>
            <a:ext cx="9692640" cy="54864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Watch for extra words (paypal-account-verify.com) or hidden subdomains where the real domain is buried (paypal.com.secure-login.xyz is actually secure-login.xyz).</a:t>
            </a:r>
            <a:endParaRPr lang="en-US" sz="1100" dirty="0"/>
          </a:p>
        </p:txBody>
      </p:sp>
      <p:sp>
        <p:nvSpPr>
          <p:cNvPr id="8" name="Shape 6"/>
          <p:cNvSpPr/>
          <p:nvPr/>
        </p:nvSpPr>
        <p:spPr>
          <a:xfrm>
            <a:off x="548640" y="2651760"/>
            <a:ext cx="11064240" cy="1051560"/>
          </a:xfrm>
          <a:prstGeom prst="roundRect">
            <a:avLst>
              <a:gd name="adj" fmla="val 6957"/>
            </a:avLst>
          </a:prstGeom>
          <a:solidFill>
            <a:srgbClr val="FFFFFF"/>
          </a:solidFill>
          <a:ln/>
        </p:spPr>
      </p:sp>
      <p:sp>
        <p:nvSpPr>
          <p:cNvPr id="9" name="Shape 7"/>
          <p:cNvSpPr/>
          <p:nvPr/>
        </p:nvSpPr>
        <p:spPr>
          <a:xfrm>
            <a:off x="822960" y="2880360"/>
            <a:ext cx="548640" cy="548640"/>
          </a:xfrm>
          <a:prstGeom prst="ellipse">
            <a:avLst/>
          </a:prstGeom>
          <a:solidFill>
            <a:srgbClr val="2E7D5B"/>
          </a:solidFill>
          <a:ln/>
        </p:spPr>
      </p:sp>
      <p:sp>
        <p:nvSpPr>
          <p:cNvPr id="10" name="Text 8"/>
          <p:cNvSpPr txBox="1"/>
          <p:nvPr/>
        </p:nvSpPr>
        <p:spPr>
          <a:xfrm>
            <a:off x="822960" y="2880360"/>
            <a:ext cx="548640" cy="54864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2</a:t>
            </a:r>
            <a:endParaRPr lang="en-US" sz="1700" dirty="0"/>
          </a:p>
        </p:txBody>
      </p:sp>
      <p:sp>
        <p:nvSpPr>
          <p:cNvPr id="11" name="Text 9"/>
          <p:cNvSpPr txBox="1"/>
          <p:nvPr/>
        </p:nvSpPr>
        <p:spPr>
          <a:xfrm>
            <a:off x="1600200" y="2743200"/>
            <a:ext cx="9692640" cy="32004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HTTPS and the padlock don’t guarantee safety</a:t>
            </a:r>
            <a:endParaRPr lang="en-US" sz="1350" dirty="0"/>
          </a:p>
        </p:txBody>
      </p:sp>
      <p:sp>
        <p:nvSpPr>
          <p:cNvPr id="12" name="Text 10"/>
          <p:cNvSpPr txBox="1"/>
          <p:nvPr/>
        </p:nvSpPr>
        <p:spPr>
          <a:xfrm>
            <a:off x="1600200" y="3081528"/>
            <a:ext cx="9692640" cy="54864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HTTPS only means your connection is encrypted, it says nothing about whether the site itself is trustworthy. Scammers get padlocks too.</a:t>
            </a:r>
            <a:endParaRPr lang="en-US" sz="1100" dirty="0"/>
          </a:p>
        </p:txBody>
      </p:sp>
      <p:sp>
        <p:nvSpPr>
          <p:cNvPr id="13" name="Shape 11"/>
          <p:cNvSpPr/>
          <p:nvPr/>
        </p:nvSpPr>
        <p:spPr>
          <a:xfrm>
            <a:off x="548640" y="3840480"/>
            <a:ext cx="11064240" cy="1051560"/>
          </a:xfrm>
          <a:prstGeom prst="roundRect">
            <a:avLst>
              <a:gd name="adj" fmla="val 6957"/>
            </a:avLst>
          </a:prstGeom>
          <a:solidFill>
            <a:srgbClr val="F3F5F8"/>
          </a:solidFill>
          <a:ln/>
        </p:spPr>
      </p:sp>
      <p:sp>
        <p:nvSpPr>
          <p:cNvPr id="14" name="Shape 12"/>
          <p:cNvSpPr/>
          <p:nvPr/>
        </p:nvSpPr>
        <p:spPr>
          <a:xfrm>
            <a:off x="822960" y="4069080"/>
            <a:ext cx="548640" cy="548640"/>
          </a:xfrm>
          <a:prstGeom prst="ellipse">
            <a:avLst/>
          </a:prstGeom>
          <a:solidFill>
            <a:srgbClr val="2E7D5B"/>
          </a:solidFill>
          <a:ln/>
        </p:spPr>
      </p:sp>
      <p:sp>
        <p:nvSpPr>
          <p:cNvPr id="15" name="Text 13"/>
          <p:cNvSpPr txBox="1"/>
          <p:nvPr/>
        </p:nvSpPr>
        <p:spPr>
          <a:xfrm>
            <a:off x="822960" y="4069080"/>
            <a:ext cx="548640" cy="54864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3</a:t>
            </a:r>
            <a:endParaRPr lang="en-US" sz="1700" dirty="0"/>
          </a:p>
        </p:txBody>
      </p:sp>
      <p:sp>
        <p:nvSpPr>
          <p:cNvPr id="16" name="Text 14"/>
          <p:cNvSpPr txBox="1"/>
          <p:nvPr/>
        </p:nvSpPr>
        <p:spPr>
          <a:xfrm>
            <a:off x="1600200" y="3931920"/>
            <a:ext cx="9692640" cy="32004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Look for poor design or missing pages</a:t>
            </a:r>
            <a:endParaRPr lang="en-US" sz="1350" dirty="0"/>
          </a:p>
        </p:txBody>
      </p:sp>
      <p:sp>
        <p:nvSpPr>
          <p:cNvPr id="17" name="Text 15"/>
          <p:cNvSpPr txBox="1"/>
          <p:nvPr/>
        </p:nvSpPr>
        <p:spPr>
          <a:xfrm>
            <a:off x="1600200" y="4270248"/>
            <a:ext cx="9692640" cy="54864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No “About Us” or “Contact” page, broken images, or copied content are common signs of a rushed scam site.</a:t>
            </a:r>
            <a:endParaRPr lang="en-US" sz="1100" dirty="0"/>
          </a:p>
        </p:txBody>
      </p:sp>
      <p:sp>
        <p:nvSpPr>
          <p:cNvPr id="18" name="Shape 16"/>
          <p:cNvSpPr/>
          <p:nvPr/>
        </p:nvSpPr>
        <p:spPr>
          <a:xfrm>
            <a:off x="548640" y="5029200"/>
            <a:ext cx="11064240" cy="1051560"/>
          </a:xfrm>
          <a:prstGeom prst="roundRect">
            <a:avLst>
              <a:gd name="adj" fmla="val 6957"/>
            </a:avLst>
          </a:prstGeom>
          <a:solidFill>
            <a:srgbClr val="FFFFFF"/>
          </a:solidFill>
          <a:ln/>
        </p:spPr>
      </p:sp>
      <p:sp>
        <p:nvSpPr>
          <p:cNvPr id="19" name="Shape 17"/>
          <p:cNvSpPr/>
          <p:nvPr/>
        </p:nvSpPr>
        <p:spPr>
          <a:xfrm>
            <a:off x="822960" y="5257800"/>
            <a:ext cx="548640" cy="548640"/>
          </a:xfrm>
          <a:prstGeom prst="ellipse">
            <a:avLst/>
          </a:prstGeom>
          <a:solidFill>
            <a:srgbClr val="2E7D5B"/>
          </a:solidFill>
          <a:ln/>
        </p:spPr>
      </p:sp>
      <p:sp>
        <p:nvSpPr>
          <p:cNvPr id="20" name="Text 18"/>
          <p:cNvSpPr txBox="1"/>
          <p:nvPr/>
        </p:nvSpPr>
        <p:spPr>
          <a:xfrm>
            <a:off x="822960" y="5257800"/>
            <a:ext cx="548640" cy="54864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4</a:t>
            </a:r>
            <a:endParaRPr lang="en-US" sz="1700" dirty="0"/>
          </a:p>
        </p:txBody>
      </p:sp>
      <p:sp>
        <p:nvSpPr>
          <p:cNvPr id="21" name="Text 19"/>
          <p:cNvSpPr txBox="1"/>
          <p:nvPr/>
        </p:nvSpPr>
        <p:spPr>
          <a:xfrm>
            <a:off x="1600200" y="5120640"/>
            <a:ext cx="9692640" cy="32004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Type addresses directly, skip search ads</a:t>
            </a:r>
            <a:endParaRPr lang="en-US" sz="1350" dirty="0"/>
          </a:p>
        </p:txBody>
      </p:sp>
      <p:sp>
        <p:nvSpPr>
          <p:cNvPr id="22" name="Text 20"/>
          <p:cNvSpPr txBox="1"/>
          <p:nvPr/>
        </p:nvSpPr>
        <p:spPr>
          <a:xfrm>
            <a:off x="1600200" y="5458968"/>
            <a:ext cx="9692640" cy="54864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The FBI has warned that criminals buy fake search engine ads that closely mimic real company websites.</a:t>
            </a:r>
            <a:endParaRPr lang="en-US" sz="1100" dirty="0"/>
          </a:p>
        </p:txBody>
      </p:sp>
      <p:sp>
        <p:nvSpPr>
          <p:cNvPr id="23" name="Text 21"/>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24" name="Text 22"/>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Social Engineering Tactics</a:t>
            </a:r>
            <a:endParaRPr lang="en-US" sz="2800" dirty="0"/>
          </a:p>
        </p:txBody>
      </p:sp>
      <p:sp>
        <p:nvSpPr>
          <p:cNvPr id="3" name="Text 1"/>
          <p:cNvSpPr txBox="1"/>
          <p:nvPr/>
        </p:nvSpPr>
        <p:spPr>
          <a:xfrm>
            <a:off x="548640" y="1051560"/>
            <a:ext cx="10972800" cy="365760"/>
          </a:xfrm>
          <a:prstGeom prst="rect">
            <a:avLst/>
          </a:prstGeom>
          <a:noFill/>
          <a:ln/>
        </p:spPr>
        <p:txBody>
          <a:bodyPr wrap="square" rtlCol="0" anchor="ctr"/>
          <a:lstStyle/>
          <a:p>
            <a:pPr marL="0" indent="0">
              <a:buNone/>
            </a:pPr>
            <a:r>
              <a:rPr lang="en-US" sz="1300" i="1" dirty="0">
                <a:solidFill>
                  <a:srgbClr val="42484F"/>
                </a:solidFill>
                <a:latin typeface="Calibri" pitchFamily="34" charset="0"/>
                <a:ea typeface="Calibri" pitchFamily="34" charset="-122"/>
                <a:cs typeface="Calibri" pitchFamily="34" charset="-120"/>
              </a:rPr>
              <a:t>Social engineering means manipulating people, rather than computers, into giving up information or access.</a:t>
            </a:r>
            <a:endParaRPr lang="en-US" sz="1300" dirty="0"/>
          </a:p>
        </p:txBody>
      </p:sp>
      <p:sp>
        <p:nvSpPr>
          <p:cNvPr id="4" name="Shape 2"/>
          <p:cNvSpPr/>
          <p:nvPr/>
        </p:nvSpPr>
        <p:spPr>
          <a:xfrm>
            <a:off x="548640" y="1600200"/>
            <a:ext cx="5349240" cy="1920240"/>
          </a:xfrm>
          <a:prstGeom prst="roundRect">
            <a:avLst>
              <a:gd name="adj" fmla="val 4762"/>
            </a:avLst>
          </a:prstGeom>
          <a:solidFill>
            <a:srgbClr val="F3F5F8"/>
          </a:solidFill>
          <a:ln/>
        </p:spPr>
      </p:sp>
      <p:sp>
        <p:nvSpPr>
          <p:cNvPr id="5" name="Shape 3"/>
          <p:cNvSpPr/>
          <p:nvPr/>
        </p:nvSpPr>
        <p:spPr>
          <a:xfrm>
            <a:off x="822960" y="1874520"/>
            <a:ext cx="457200" cy="457200"/>
          </a:xfrm>
          <a:prstGeom prst="ellipse">
            <a:avLst/>
          </a:prstGeom>
          <a:solidFill>
            <a:srgbClr val="17263B"/>
          </a:solidFill>
          <a:ln/>
        </p:spPr>
      </p:sp>
      <p:sp>
        <p:nvSpPr>
          <p:cNvPr id="6" name="Text 4"/>
          <p:cNvSpPr txBox="1"/>
          <p:nvPr/>
        </p:nvSpPr>
        <p:spPr>
          <a:xfrm>
            <a:off x="822960" y="18745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7" name="Text 5"/>
          <p:cNvSpPr txBox="1"/>
          <p:nvPr/>
        </p:nvSpPr>
        <p:spPr>
          <a:xfrm>
            <a:off x="1417320" y="1874520"/>
            <a:ext cx="4297680" cy="457200"/>
          </a:xfrm>
          <a:prstGeom prst="rect">
            <a:avLst/>
          </a:prstGeom>
          <a:noFill/>
          <a:ln/>
        </p:spPr>
        <p:txBody>
          <a:bodyPr wrap="square" rtlCol="0" anchor="ctr"/>
          <a:lstStyle/>
          <a:p>
            <a:pPr marL="0" indent="0">
              <a:buNone/>
            </a:pPr>
            <a:r>
              <a:rPr lang="en-US" sz="1500" b="1" dirty="0">
                <a:solidFill>
                  <a:srgbClr val="17263B"/>
                </a:solidFill>
                <a:latin typeface="Calibri" pitchFamily="34" charset="0"/>
                <a:ea typeface="Calibri" pitchFamily="34" charset="-122"/>
                <a:cs typeface="Calibri" pitchFamily="34" charset="-120"/>
              </a:rPr>
              <a:t>Pretexting</a:t>
            </a:r>
            <a:endParaRPr lang="en-US" sz="1500" dirty="0"/>
          </a:p>
        </p:txBody>
      </p:sp>
      <p:sp>
        <p:nvSpPr>
          <p:cNvPr id="8" name="Text 6"/>
          <p:cNvSpPr txBox="1"/>
          <p:nvPr/>
        </p:nvSpPr>
        <p:spPr>
          <a:xfrm>
            <a:off x="822960" y="2514600"/>
            <a:ext cx="4846320" cy="914400"/>
          </a:xfrm>
          <a:prstGeom prst="rect">
            <a:avLst/>
          </a:prstGeom>
          <a:noFill/>
          <a:ln/>
        </p:spPr>
        <p:txBody>
          <a:bodyPr wrap="square" rtlCol="0" anchor="ctr"/>
          <a:lstStyle/>
          <a:p>
            <a:pPr marL="0" indent="0">
              <a:buNone/>
            </a:pPr>
            <a:r>
              <a:rPr lang="en-US" sz="1100" dirty="0">
                <a:solidFill>
                  <a:srgbClr val="42484F"/>
                </a:solidFill>
                <a:latin typeface="Calibri" pitchFamily="34" charset="0"/>
                <a:cs typeface="Calibri" pitchFamily="34" charset="-120"/>
              </a:rPr>
              <a:t>Inventing a false identity or story to earn trust, e.g. someone posing as “IT support” needing to “verify” your password. </a:t>
            </a:r>
            <a:r>
              <a:rPr lang="en-GB" sz="1100" dirty="0">
                <a:solidFill>
                  <a:srgbClr val="42484F"/>
                </a:solidFill>
                <a:latin typeface="Calibri" pitchFamily="34" charset="0"/>
                <a:cs typeface="Calibri" pitchFamily="34" charset="-120"/>
              </a:rPr>
              <a:t>The pretext is the false story; the goal is to make you lower your guard.</a:t>
            </a:r>
            <a:endParaRPr lang="en-US" sz="1100" dirty="0">
              <a:solidFill>
                <a:srgbClr val="42484F"/>
              </a:solidFill>
              <a:latin typeface="Calibri" pitchFamily="34" charset="0"/>
              <a:cs typeface="Calibri" pitchFamily="34" charset="-120"/>
            </a:endParaRPr>
          </a:p>
        </p:txBody>
      </p:sp>
      <p:sp>
        <p:nvSpPr>
          <p:cNvPr id="9" name="Shape 7"/>
          <p:cNvSpPr/>
          <p:nvPr/>
        </p:nvSpPr>
        <p:spPr>
          <a:xfrm>
            <a:off x="6309360" y="1600200"/>
            <a:ext cx="5349240" cy="1920240"/>
          </a:xfrm>
          <a:prstGeom prst="roundRect">
            <a:avLst>
              <a:gd name="adj" fmla="val 4762"/>
            </a:avLst>
          </a:prstGeom>
          <a:solidFill>
            <a:srgbClr val="F3F5F8"/>
          </a:solidFill>
          <a:ln/>
        </p:spPr>
      </p:sp>
      <p:sp>
        <p:nvSpPr>
          <p:cNvPr id="10" name="Shape 8"/>
          <p:cNvSpPr/>
          <p:nvPr/>
        </p:nvSpPr>
        <p:spPr>
          <a:xfrm>
            <a:off x="6583680" y="1874520"/>
            <a:ext cx="457200" cy="457200"/>
          </a:xfrm>
          <a:prstGeom prst="ellipse">
            <a:avLst/>
          </a:prstGeom>
          <a:solidFill>
            <a:srgbClr val="17263B"/>
          </a:solidFill>
          <a:ln/>
        </p:spPr>
      </p:sp>
      <p:sp>
        <p:nvSpPr>
          <p:cNvPr id="11" name="Text 9"/>
          <p:cNvSpPr txBox="1"/>
          <p:nvPr/>
        </p:nvSpPr>
        <p:spPr>
          <a:xfrm>
            <a:off x="6583680" y="187452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2" name="Text 10"/>
          <p:cNvSpPr txBox="1"/>
          <p:nvPr/>
        </p:nvSpPr>
        <p:spPr>
          <a:xfrm>
            <a:off x="7178040" y="1874520"/>
            <a:ext cx="4297680" cy="457200"/>
          </a:xfrm>
          <a:prstGeom prst="rect">
            <a:avLst/>
          </a:prstGeom>
          <a:noFill/>
          <a:ln/>
        </p:spPr>
        <p:txBody>
          <a:bodyPr wrap="square" rtlCol="0" anchor="ctr"/>
          <a:lstStyle/>
          <a:p>
            <a:pPr marL="0" indent="0">
              <a:buNone/>
            </a:pPr>
            <a:r>
              <a:rPr lang="en-US" sz="1500" b="1" dirty="0">
                <a:solidFill>
                  <a:srgbClr val="17263B"/>
                </a:solidFill>
                <a:latin typeface="Calibri" pitchFamily="34" charset="0"/>
                <a:ea typeface="Calibri" pitchFamily="34" charset="-122"/>
                <a:cs typeface="Calibri" pitchFamily="34" charset="-120"/>
              </a:rPr>
              <a:t>Baiting</a:t>
            </a:r>
            <a:endParaRPr lang="en-US" sz="1500" dirty="0"/>
          </a:p>
        </p:txBody>
      </p:sp>
      <p:sp>
        <p:nvSpPr>
          <p:cNvPr id="13" name="Text 11"/>
          <p:cNvSpPr txBox="1"/>
          <p:nvPr/>
        </p:nvSpPr>
        <p:spPr>
          <a:xfrm>
            <a:off x="6583680" y="2331720"/>
            <a:ext cx="4846320" cy="1097280"/>
          </a:xfrm>
          <a:prstGeom prst="rect">
            <a:avLst/>
          </a:prstGeom>
          <a:noFill/>
          <a:ln/>
        </p:spPr>
        <p:txBody>
          <a:bodyPr wrap="square" rtlCol="0" anchor="ctr"/>
          <a:lstStyle/>
          <a:p>
            <a:pPr marL="0" indent="0">
              <a:buNone/>
            </a:pPr>
            <a:r>
              <a:rPr lang="en-US" sz="1100" dirty="0">
                <a:solidFill>
                  <a:srgbClr val="42484F"/>
                </a:solidFill>
                <a:latin typeface="Calibri" pitchFamily="34" charset="0"/>
                <a:cs typeface="Calibri" pitchFamily="34" charset="-120"/>
              </a:rPr>
              <a:t>Offering something desirable in exchange for information, fake gift-card surveys, job offers asking for banking details. </a:t>
            </a:r>
            <a:r>
              <a:rPr lang="en-GB" sz="1100" dirty="0">
                <a:solidFill>
                  <a:srgbClr val="42484F"/>
                </a:solidFill>
                <a:latin typeface="Calibri" pitchFamily="34" charset="0"/>
                <a:cs typeface="Calibri" pitchFamily="34" charset="-120"/>
              </a:rPr>
              <a:t>The bait is the tempting offer; the goal is to make you act before you think.</a:t>
            </a:r>
            <a:r>
              <a:rPr lang="en-US" sz="1100" dirty="0">
                <a:solidFill>
                  <a:srgbClr val="42484F"/>
                </a:solidFill>
                <a:latin typeface="Calibri" pitchFamily="34" charset="0"/>
                <a:cs typeface="Calibri" pitchFamily="34" charset="-120"/>
              </a:rPr>
              <a:t> </a:t>
            </a:r>
            <a:r>
              <a:rPr lang="en-GB" sz="1100" dirty="0">
                <a:solidFill>
                  <a:srgbClr val="42484F"/>
                </a:solidFill>
                <a:latin typeface="Calibri" pitchFamily="34" charset="0"/>
                <a:cs typeface="Calibri" pitchFamily="34" charset="-120"/>
              </a:rPr>
              <a:t>In 2022, attackers left USB drives labelled "Payroll 2023" in a company parking lot. An employee plugged one in, installing malware that gave attackers access to the internal network.</a:t>
            </a:r>
            <a:br>
              <a:rPr lang="en-GB" sz="1100" dirty="0">
                <a:solidFill>
                  <a:srgbClr val="42484F"/>
                </a:solidFill>
                <a:latin typeface="Calibri" pitchFamily="34" charset="0"/>
                <a:cs typeface="Calibri" pitchFamily="34" charset="-120"/>
              </a:rPr>
            </a:br>
            <a:r>
              <a:rPr lang="en-GB" sz="1100" dirty="0">
                <a:solidFill>
                  <a:srgbClr val="42484F"/>
                </a:solidFill>
                <a:latin typeface="Calibri" pitchFamily="34" charset="0"/>
                <a:cs typeface="Calibri" pitchFamily="34" charset="-120"/>
              </a:rPr>
              <a:t>Source: CISA / SANS Institute security awareness materials</a:t>
            </a:r>
            <a:endParaRPr lang="en-US" sz="1100" dirty="0">
              <a:solidFill>
                <a:srgbClr val="42484F"/>
              </a:solidFill>
              <a:latin typeface="Calibri" pitchFamily="34" charset="0"/>
              <a:cs typeface="Calibri" pitchFamily="34" charset="-120"/>
            </a:endParaRPr>
          </a:p>
        </p:txBody>
      </p:sp>
      <p:sp>
        <p:nvSpPr>
          <p:cNvPr id="14" name="Shape 12"/>
          <p:cNvSpPr/>
          <p:nvPr/>
        </p:nvSpPr>
        <p:spPr>
          <a:xfrm>
            <a:off x="548640" y="3703320"/>
            <a:ext cx="5349240" cy="1920240"/>
          </a:xfrm>
          <a:prstGeom prst="roundRect">
            <a:avLst>
              <a:gd name="adj" fmla="val 4762"/>
            </a:avLst>
          </a:prstGeom>
          <a:solidFill>
            <a:srgbClr val="F3F5F8"/>
          </a:solidFill>
          <a:ln/>
        </p:spPr>
      </p:sp>
      <p:sp>
        <p:nvSpPr>
          <p:cNvPr id="15" name="Shape 13"/>
          <p:cNvSpPr/>
          <p:nvPr/>
        </p:nvSpPr>
        <p:spPr>
          <a:xfrm>
            <a:off x="822960" y="3977640"/>
            <a:ext cx="457200" cy="457200"/>
          </a:xfrm>
          <a:prstGeom prst="ellipse">
            <a:avLst/>
          </a:prstGeom>
          <a:solidFill>
            <a:srgbClr val="17263B"/>
          </a:solidFill>
          <a:ln/>
        </p:spPr>
      </p:sp>
      <p:sp>
        <p:nvSpPr>
          <p:cNvPr id="16" name="Text 14"/>
          <p:cNvSpPr txBox="1"/>
          <p:nvPr/>
        </p:nvSpPr>
        <p:spPr>
          <a:xfrm>
            <a:off x="822960" y="3977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7" name="Text 15"/>
          <p:cNvSpPr txBox="1"/>
          <p:nvPr/>
        </p:nvSpPr>
        <p:spPr>
          <a:xfrm>
            <a:off x="1417320" y="3977640"/>
            <a:ext cx="4297680" cy="457200"/>
          </a:xfrm>
          <a:prstGeom prst="rect">
            <a:avLst/>
          </a:prstGeom>
          <a:noFill/>
          <a:ln/>
        </p:spPr>
        <p:txBody>
          <a:bodyPr wrap="square" rtlCol="0" anchor="ctr"/>
          <a:lstStyle/>
          <a:p>
            <a:pPr marL="0" indent="0">
              <a:buNone/>
            </a:pPr>
            <a:r>
              <a:rPr lang="en-US" sz="1500" b="1" dirty="0">
                <a:solidFill>
                  <a:srgbClr val="17263B"/>
                </a:solidFill>
                <a:latin typeface="Calibri" pitchFamily="34" charset="0"/>
                <a:ea typeface="Calibri" pitchFamily="34" charset="-122"/>
                <a:cs typeface="Calibri" pitchFamily="34" charset="-120"/>
              </a:rPr>
              <a:t>Vishing (voice phishing)</a:t>
            </a:r>
            <a:endParaRPr lang="en-US" sz="1500" dirty="0"/>
          </a:p>
        </p:txBody>
      </p:sp>
      <p:sp>
        <p:nvSpPr>
          <p:cNvPr id="18" name="Text 16"/>
          <p:cNvSpPr txBox="1"/>
          <p:nvPr/>
        </p:nvSpPr>
        <p:spPr>
          <a:xfrm>
            <a:off x="822960" y="4617720"/>
            <a:ext cx="4846320" cy="91440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Phone-based scams. AI voice-cloning can now convincingly imitate a real person, like a boss or family member.</a:t>
            </a:r>
            <a:endParaRPr lang="en-US" sz="1100" dirty="0"/>
          </a:p>
        </p:txBody>
      </p:sp>
      <p:sp>
        <p:nvSpPr>
          <p:cNvPr id="19" name="Shape 17"/>
          <p:cNvSpPr/>
          <p:nvPr/>
        </p:nvSpPr>
        <p:spPr>
          <a:xfrm>
            <a:off x="6309360" y="3703320"/>
            <a:ext cx="5349240" cy="1920240"/>
          </a:xfrm>
          <a:prstGeom prst="roundRect">
            <a:avLst>
              <a:gd name="adj" fmla="val 4762"/>
            </a:avLst>
          </a:prstGeom>
          <a:solidFill>
            <a:srgbClr val="F3F5F8"/>
          </a:solidFill>
          <a:ln/>
        </p:spPr>
      </p:sp>
      <p:sp>
        <p:nvSpPr>
          <p:cNvPr id="20" name="Shape 18"/>
          <p:cNvSpPr/>
          <p:nvPr/>
        </p:nvSpPr>
        <p:spPr>
          <a:xfrm>
            <a:off x="6583680" y="3977640"/>
            <a:ext cx="457200" cy="457200"/>
          </a:xfrm>
          <a:prstGeom prst="ellipse">
            <a:avLst/>
          </a:prstGeom>
          <a:solidFill>
            <a:srgbClr val="17263B"/>
          </a:solidFill>
          <a:ln/>
        </p:spPr>
      </p:sp>
      <p:sp>
        <p:nvSpPr>
          <p:cNvPr id="21" name="Text 19"/>
          <p:cNvSpPr txBox="1"/>
          <p:nvPr/>
        </p:nvSpPr>
        <p:spPr>
          <a:xfrm>
            <a:off x="6583680" y="3977640"/>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2" name="Text 20"/>
          <p:cNvSpPr txBox="1"/>
          <p:nvPr/>
        </p:nvSpPr>
        <p:spPr>
          <a:xfrm>
            <a:off x="7178040" y="3977640"/>
            <a:ext cx="4297680" cy="457200"/>
          </a:xfrm>
          <a:prstGeom prst="rect">
            <a:avLst/>
          </a:prstGeom>
          <a:noFill/>
          <a:ln/>
        </p:spPr>
        <p:txBody>
          <a:bodyPr wrap="square" rtlCol="0" anchor="ctr"/>
          <a:lstStyle/>
          <a:p>
            <a:pPr marL="0" indent="0">
              <a:buNone/>
            </a:pPr>
            <a:r>
              <a:rPr lang="en-US" sz="1500" b="1" dirty="0">
                <a:solidFill>
                  <a:srgbClr val="17263B"/>
                </a:solidFill>
                <a:latin typeface="Calibri" pitchFamily="34" charset="0"/>
                <a:ea typeface="Calibri" pitchFamily="34" charset="-122"/>
                <a:cs typeface="Calibri" pitchFamily="34" charset="-120"/>
              </a:rPr>
              <a:t>Smishing (SMS phishing)</a:t>
            </a:r>
            <a:endParaRPr lang="en-US" sz="1500" dirty="0"/>
          </a:p>
        </p:txBody>
      </p:sp>
      <p:sp>
        <p:nvSpPr>
          <p:cNvPr id="23" name="Text 21"/>
          <p:cNvSpPr txBox="1"/>
          <p:nvPr/>
        </p:nvSpPr>
        <p:spPr>
          <a:xfrm>
            <a:off x="6583680" y="4617720"/>
            <a:ext cx="4846320" cy="914400"/>
          </a:xfrm>
          <a:prstGeom prst="rect">
            <a:avLst/>
          </a:prstGeom>
          <a:noFill/>
          <a:ln/>
        </p:spPr>
        <p:txBody>
          <a:bodyPr wrap="square" rtlCol="0" anchor="ctr"/>
          <a:lstStyle/>
          <a:p>
            <a:pPr marL="0" indent="0">
              <a:buNone/>
            </a:pPr>
            <a:r>
              <a:rPr lang="en-US" sz="1100" dirty="0">
                <a:solidFill>
                  <a:srgbClr val="42484F"/>
                </a:solidFill>
                <a:latin typeface="Calibri" pitchFamily="34" charset="0"/>
                <a:ea typeface="Calibri" pitchFamily="34" charset="-122"/>
                <a:cs typeface="Calibri" pitchFamily="34" charset="-120"/>
              </a:rPr>
              <a:t>Phishing delivered by text message, increasingly common as email filters get better at catching scams.</a:t>
            </a:r>
            <a:endParaRPr lang="en-US" sz="1100" dirty="0"/>
          </a:p>
        </p:txBody>
      </p:sp>
      <p:sp>
        <p:nvSpPr>
          <p:cNvPr id="24" name="Text 22"/>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25" name="Text 23"/>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263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Business Email Compromise &amp; AI-Driven Tactics</a:t>
            </a:r>
            <a:endParaRPr lang="en-US" sz="2800" dirty="0"/>
          </a:p>
        </p:txBody>
      </p:sp>
      <p:sp>
        <p:nvSpPr>
          <p:cNvPr id="3" name="Text 1"/>
          <p:cNvSpPr txBox="1"/>
          <p:nvPr/>
        </p:nvSpPr>
        <p:spPr>
          <a:xfrm>
            <a:off x="548640" y="1188720"/>
            <a:ext cx="10972800" cy="640080"/>
          </a:xfrm>
          <a:prstGeom prst="rect">
            <a:avLst/>
          </a:prstGeom>
          <a:noFill/>
          <a:ln/>
        </p:spPr>
        <p:txBody>
          <a:bodyPr wrap="square" rtlCol="0" anchor="ctr"/>
          <a:lstStyle/>
          <a:p>
            <a:pPr marL="0" indent="0">
              <a:buNone/>
            </a:pPr>
            <a:r>
              <a:rPr lang="en-US" sz="1350" dirty="0">
                <a:solidFill>
                  <a:srgbClr val="D7DEE5"/>
                </a:solidFill>
                <a:latin typeface="Calibri" pitchFamily="34" charset="0"/>
                <a:ea typeface="Calibri" pitchFamily="34" charset="-122"/>
                <a:cs typeface="Calibri" pitchFamily="34" charset="-120"/>
              </a:rPr>
              <a:t>Business Email Compromise (BEC) is a scam where a criminal impersonates or hijacks a real business email account, often a vendor or executive, to redirect a wire payment or steal funds.</a:t>
            </a:r>
            <a:endParaRPr lang="en-US" sz="1350" dirty="0"/>
          </a:p>
        </p:txBody>
      </p:sp>
      <p:sp>
        <p:nvSpPr>
          <p:cNvPr id="4" name="Shape 2"/>
          <p:cNvSpPr/>
          <p:nvPr/>
        </p:nvSpPr>
        <p:spPr>
          <a:xfrm>
            <a:off x="548640" y="2103120"/>
            <a:ext cx="3611880" cy="3566160"/>
          </a:xfrm>
          <a:prstGeom prst="roundRect">
            <a:avLst>
              <a:gd name="adj" fmla="val 2564"/>
            </a:avLst>
          </a:prstGeom>
          <a:solidFill>
            <a:srgbClr val="27405E"/>
          </a:solidFill>
          <a:ln/>
        </p:spPr>
      </p:sp>
      <p:sp>
        <p:nvSpPr>
          <p:cNvPr id="5" name="Text 3"/>
          <p:cNvSpPr txBox="1"/>
          <p:nvPr/>
        </p:nvSpPr>
        <p:spPr>
          <a:xfrm>
            <a:off x="731520" y="2331720"/>
            <a:ext cx="3246120" cy="822960"/>
          </a:xfrm>
          <a:prstGeom prst="rect">
            <a:avLst/>
          </a:prstGeom>
          <a:noFill/>
          <a:ln/>
        </p:spPr>
        <p:txBody>
          <a:bodyPr wrap="square" rtlCol="0" anchor="ctr"/>
          <a:lstStyle/>
          <a:p>
            <a:pPr marL="0" indent="0" algn="ctr">
              <a:buNone/>
            </a:pPr>
            <a:r>
              <a:rPr lang="en-US" sz="3000" b="1" dirty="0">
                <a:solidFill>
                  <a:srgbClr val="C98A2C"/>
                </a:solidFill>
                <a:latin typeface="Georgia" pitchFamily="34" charset="0"/>
                <a:ea typeface="Georgia" pitchFamily="34" charset="-122"/>
                <a:cs typeface="Georgia" pitchFamily="34" charset="-120"/>
              </a:rPr>
              <a:t>$83,099</a:t>
            </a:r>
            <a:endParaRPr lang="en-US" sz="3000" dirty="0"/>
          </a:p>
        </p:txBody>
      </p:sp>
      <p:sp>
        <p:nvSpPr>
          <p:cNvPr id="6" name="Text 4"/>
          <p:cNvSpPr txBox="1"/>
          <p:nvPr/>
        </p:nvSpPr>
        <p:spPr>
          <a:xfrm>
            <a:off x="777240" y="3246120"/>
            <a:ext cx="3154680" cy="1554480"/>
          </a:xfrm>
          <a:prstGeom prst="rect">
            <a:avLst/>
          </a:prstGeom>
          <a:noFill/>
          <a:ln/>
        </p:spPr>
        <p:txBody>
          <a:bodyPr wrap="square" rtlCol="0" anchor="ctr"/>
          <a:lstStyle/>
          <a:p>
            <a:pPr marL="0" indent="0" algn="ctr">
              <a:buNone/>
            </a:pPr>
            <a:r>
              <a:rPr lang="en-US" sz="1150" dirty="0">
                <a:solidFill>
                  <a:srgbClr val="D7DEE5"/>
                </a:solidFill>
                <a:latin typeface="Calibri" pitchFamily="34" charset="0"/>
                <a:ea typeface="Calibri" pitchFamily="34" charset="-122"/>
                <a:cs typeface="Calibri" pitchFamily="34" charset="-120"/>
              </a:rPr>
              <a:t>average amount requested per BEC wire-transfer attack, Q2 2025</a:t>
            </a:r>
            <a:endParaRPr lang="en-US" sz="1150" dirty="0"/>
          </a:p>
        </p:txBody>
      </p:sp>
      <p:sp>
        <p:nvSpPr>
          <p:cNvPr id="7" name="Text 5"/>
          <p:cNvSpPr txBox="1"/>
          <p:nvPr/>
        </p:nvSpPr>
        <p:spPr>
          <a:xfrm>
            <a:off x="777240" y="5120640"/>
            <a:ext cx="3154680" cy="457200"/>
          </a:xfrm>
          <a:prstGeom prst="rect">
            <a:avLst/>
          </a:prstGeom>
          <a:noFill/>
          <a:ln/>
        </p:spPr>
        <p:txBody>
          <a:bodyPr wrap="square" rtlCol="0" anchor="ctr"/>
          <a:lstStyle/>
          <a:p>
            <a:pPr marL="0" indent="0" algn="ctr">
              <a:buNone/>
            </a:pPr>
            <a:r>
              <a:rPr lang="en-US" sz="900" i="1" dirty="0">
                <a:solidFill>
                  <a:srgbClr val="9FB0BE"/>
                </a:solidFill>
                <a:latin typeface="Calibri" pitchFamily="34" charset="0"/>
                <a:ea typeface="Calibri" pitchFamily="34" charset="-122"/>
                <a:cs typeface="Calibri" pitchFamily="34" charset="-120"/>
              </a:rPr>
              <a:t>APWG / Fortra, Q2 2025 Report</a:t>
            </a:r>
            <a:endParaRPr lang="en-US" sz="900" dirty="0"/>
          </a:p>
        </p:txBody>
      </p:sp>
      <p:sp>
        <p:nvSpPr>
          <p:cNvPr id="8" name="Shape 6"/>
          <p:cNvSpPr/>
          <p:nvPr/>
        </p:nvSpPr>
        <p:spPr>
          <a:xfrm>
            <a:off x="4389120" y="2103120"/>
            <a:ext cx="3611880" cy="3566160"/>
          </a:xfrm>
          <a:prstGeom prst="roundRect">
            <a:avLst>
              <a:gd name="adj" fmla="val 2564"/>
            </a:avLst>
          </a:prstGeom>
          <a:solidFill>
            <a:srgbClr val="27405E"/>
          </a:solidFill>
          <a:ln/>
        </p:spPr>
      </p:sp>
      <p:sp>
        <p:nvSpPr>
          <p:cNvPr id="9" name="Text 7"/>
          <p:cNvSpPr txBox="1"/>
          <p:nvPr/>
        </p:nvSpPr>
        <p:spPr>
          <a:xfrm>
            <a:off x="4572000" y="2331720"/>
            <a:ext cx="3246120" cy="822960"/>
          </a:xfrm>
          <a:prstGeom prst="rect">
            <a:avLst/>
          </a:prstGeom>
          <a:noFill/>
          <a:ln/>
        </p:spPr>
        <p:txBody>
          <a:bodyPr wrap="square" rtlCol="0" anchor="ctr"/>
          <a:lstStyle/>
          <a:p>
            <a:pPr marL="0" indent="0" algn="ctr">
              <a:buNone/>
            </a:pPr>
            <a:r>
              <a:rPr lang="en-US" sz="3000" b="1" dirty="0">
                <a:solidFill>
                  <a:srgbClr val="C98A2C"/>
                </a:solidFill>
                <a:latin typeface="Georgia" pitchFamily="34" charset="0"/>
                <a:ea typeface="Georgia" pitchFamily="34" charset="-122"/>
                <a:cs typeface="Georgia" pitchFamily="34" charset="-120"/>
              </a:rPr>
              <a:t>195%</a:t>
            </a:r>
            <a:endParaRPr lang="en-US" sz="3000" dirty="0"/>
          </a:p>
        </p:txBody>
      </p:sp>
      <p:sp>
        <p:nvSpPr>
          <p:cNvPr id="10" name="Text 8"/>
          <p:cNvSpPr txBox="1"/>
          <p:nvPr/>
        </p:nvSpPr>
        <p:spPr>
          <a:xfrm>
            <a:off x="4617720" y="3246120"/>
            <a:ext cx="3154680" cy="1554480"/>
          </a:xfrm>
          <a:prstGeom prst="rect">
            <a:avLst/>
          </a:prstGeom>
          <a:noFill/>
          <a:ln/>
        </p:spPr>
        <p:txBody>
          <a:bodyPr wrap="square" rtlCol="0" anchor="ctr"/>
          <a:lstStyle/>
          <a:p>
            <a:pPr marL="0" indent="0" algn="ctr">
              <a:buNone/>
            </a:pPr>
            <a:r>
              <a:rPr lang="en-US" sz="1150" dirty="0">
                <a:solidFill>
                  <a:srgbClr val="D7DEE5"/>
                </a:solidFill>
                <a:latin typeface="Calibri" pitchFamily="34" charset="0"/>
                <a:ea typeface="Calibri" pitchFamily="34" charset="-122"/>
                <a:cs typeface="Calibri" pitchFamily="34" charset="-120"/>
              </a:rPr>
              <a:t>global growth in AI-generated fake identities used for fraud</a:t>
            </a:r>
            <a:endParaRPr lang="en-US" sz="1150" dirty="0"/>
          </a:p>
        </p:txBody>
      </p:sp>
      <p:sp>
        <p:nvSpPr>
          <p:cNvPr id="11" name="Text 9"/>
          <p:cNvSpPr txBox="1"/>
          <p:nvPr/>
        </p:nvSpPr>
        <p:spPr>
          <a:xfrm>
            <a:off x="4617720" y="5120640"/>
            <a:ext cx="3154680" cy="457200"/>
          </a:xfrm>
          <a:prstGeom prst="rect">
            <a:avLst/>
          </a:prstGeom>
          <a:noFill/>
          <a:ln/>
        </p:spPr>
        <p:txBody>
          <a:bodyPr wrap="square" rtlCol="0" anchor="ctr"/>
          <a:lstStyle/>
          <a:p>
            <a:pPr marL="0" indent="0" algn="ctr">
              <a:buNone/>
            </a:pPr>
            <a:r>
              <a:rPr lang="en-US" sz="900" i="1" dirty="0">
                <a:solidFill>
                  <a:srgbClr val="9FB0BE"/>
                </a:solidFill>
                <a:latin typeface="Calibri" pitchFamily="34" charset="0"/>
                <a:ea typeface="Calibri" pitchFamily="34" charset="-122"/>
                <a:cs typeface="Calibri" pitchFamily="34" charset="-120"/>
              </a:rPr>
              <a:t>Microsoft Digital Defense Report 2025</a:t>
            </a:r>
            <a:endParaRPr lang="en-US" sz="900" dirty="0"/>
          </a:p>
        </p:txBody>
      </p:sp>
      <p:sp>
        <p:nvSpPr>
          <p:cNvPr id="12" name="Shape 10"/>
          <p:cNvSpPr/>
          <p:nvPr/>
        </p:nvSpPr>
        <p:spPr>
          <a:xfrm>
            <a:off x="8229600" y="2103120"/>
            <a:ext cx="3611880" cy="3566160"/>
          </a:xfrm>
          <a:prstGeom prst="roundRect">
            <a:avLst>
              <a:gd name="adj" fmla="val 2564"/>
            </a:avLst>
          </a:prstGeom>
          <a:solidFill>
            <a:srgbClr val="27405E"/>
          </a:solidFill>
          <a:ln/>
        </p:spPr>
      </p:sp>
      <p:sp>
        <p:nvSpPr>
          <p:cNvPr id="13" name="Text 11"/>
          <p:cNvSpPr txBox="1"/>
          <p:nvPr/>
        </p:nvSpPr>
        <p:spPr>
          <a:xfrm>
            <a:off x="8412480" y="2331720"/>
            <a:ext cx="3246120" cy="822960"/>
          </a:xfrm>
          <a:prstGeom prst="rect">
            <a:avLst/>
          </a:prstGeom>
          <a:noFill/>
          <a:ln/>
        </p:spPr>
        <p:txBody>
          <a:bodyPr wrap="square" rtlCol="0" anchor="ctr"/>
          <a:lstStyle/>
          <a:p>
            <a:pPr marL="0" indent="0" algn="ctr">
              <a:buNone/>
            </a:pPr>
            <a:r>
              <a:rPr lang="en-US" sz="3000" b="1" dirty="0">
                <a:solidFill>
                  <a:srgbClr val="C98A2C"/>
                </a:solidFill>
                <a:latin typeface="Georgia" pitchFamily="34" charset="0"/>
                <a:ea typeface="Georgia" pitchFamily="34" charset="-122"/>
                <a:cs typeface="Georgia" pitchFamily="34" charset="-120"/>
              </a:rPr>
              <a:t>47%</a:t>
            </a:r>
            <a:endParaRPr lang="en-US" sz="3000" dirty="0"/>
          </a:p>
        </p:txBody>
      </p:sp>
      <p:sp>
        <p:nvSpPr>
          <p:cNvPr id="14" name="Text 12"/>
          <p:cNvSpPr txBox="1"/>
          <p:nvPr/>
        </p:nvSpPr>
        <p:spPr>
          <a:xfrm>
            <a:off x="8458200" y="3246120"/>
            <a:ext cx="3154680" cy="1554480"/>
          </a:xfrm>
          <a:prstGeom prst="rect">
            <a:avLst/>
          </a:prstGeom>
          <a:noFill/>
          <a:ln/>
        </p:spPr>
        <p:txBody>
          <a:bodyPr wrap="square" rtlCol="0" anchor="ctr"/>
          <a:lstStyle/>
          <a:p>
            <a:pPr marL="0" indent="0" algn="ctr">
              <a:buNone/>
            </a:pPr>
            <a:r>
              <a:rPr lang="en-US" sz="1150" dirty="0">
                <a:solidFill>
                  <a:srgbClr val="D7DEE5"/>
                </a:solidFill>
                <a:latin typeface="Calibri" pitchFamily="34" charset="0"/>
                <a:ea typeface="Calibri" pitchFamily="34" charset="-122"/>
                <a:cs typeface="Calibri" pitchFamily="34" charset="-120"/>
              </a:rPr>
              <a:t>of Microsoft's incident-response cases in 2024–2025 began with “</a:t>
            </a:r>
            <a:r>
              <a:rPr lang="en-US" sz="1150" dirty="0" err="1">
                <a:solidFill>
                  <a:srgbClr val="D7DEE5"/>
                </a:solidFill>
                <a:latin typeface="Calibri" pitchFamily="34" charset="0"/>
                <a:ea typeface="Calibri" pitchFamily="34" charset="-122"/>
                <a:cs typeface="Calibri" pitchFamily="34" charset="-120"/>
              </a:rPr>
              <a:t>ClickFix</a:t>
            </a:r>
            <a:r>
              <a:rPr lang="en-US" sz="1150" dirty="0">
                <a:solidFill>
                  <a:srgbClr val="D7DEE5"/>
                </a:solidFill>
                <a:latin typeface="Calibri" pitchFamily="34" charset="0"/>
                <a:ea typeface="Calibri" pitchFamily="34" charset="-122"/>
                <a:cs typeface="Calibri" pitchFamily="34" charset="-120"/>
              </a:rPr>
              <a:t>”, a fake pop-up tricking users into pasting a malicious command themselves</a:t>
            </a:r>
            <a:endParaRPr lang="en-US" sz="1150" dirty="0"/>
          </a:p>
        </p:txBody>
      </p:sp>
      <p:sp>
        <p:nvSpPr>
          <p:cNvPr id="15" name="Text 13"/>
          <p:cNvSpPr txBox="1"/>
          <p:nvPr/>
        </p:nvSpPr>
        <p:spPr>
          <a:xfrm>
            <a:off x="8458200" y="5120640"/>
            <a:ext cx="3154680" cy="457200"/>
          </a:xfrm>
          <a:prstGeom prst="rect">
            <a:avLst/>
          </a:prstGeom>
          <a:noFill/>
          <a:ln/>
        </p:spPr>
        <p:txBody>
          <a:bodyPr wrap="square" rtlCol="0" anchor="ctr"/>
          <a:lstStyle/>
          <a:p>
            <a:pPr marL="0" indent="0" algn="ctr">
              <a:buNone/>
            </a:pPr>
            <a:r>
              <a:rPr lang="en-US" sz="900" i="1" dirty="0">
                <a:solidFill>
                  <a:srgbClr val="9FB0BE"/>
                </a:solidFill>
                <a:latin typeface="Calibri" pitchFamily="34" charset="0"/>
                <a:ea typeface="Calibri" pitchFamily="34" charset="-122"/>
                <a:cs typeface="Calibri" pitchFamily="34" charset="-120"/>
              </a:rPr>
              <a:t>Microsoft Digital Defense Report 2025</a:t>
            </a:r>
            <a:endParaRPr lang="en-US" sz="900" dirty="0"/>
          </a:p>
        </p:txBody>
      </p:sp>
      <p:sp>
        <p:nvSpPr>
          <p:cNvPr id="16" name="Text 14"/>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17" name="Text 15"/>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Real-World Example: A Global Case</a:t>
            </a:r>
            <a:endParaRPr lang="en-US" sz="2800" dirty="0"/>
          </a:p>
        </p:txBody>
      </p:sp>
      <p:sp>
        <p:nvSpPr>
          <p:cNvPr id="3" name="Shape 1"/>
          <p:cNvSpPr/>
          <p:nvPr/>
        </p:nvSpPr>
        <p:spPr>
          <a:xfrm>
            <a:off x="548640" y="1371600"/>
            <a:ext cx="11064240" cy="4754880"/>
          </a:xfrm>
          <a:prstGeom prst="roundRect">
            <a:avLst>
              <a:gd name="adj" fmla="val 1923"/>
            </a:avLst>
          </a:prstGeom>
          <a:solidFill>
            <a:srgbClr val="F3F5F8"/>
          </a:solidFill>
          <a:ln/>
        </p:spPr>
      </p:sp>
      <p:sp>
        <p:nvSpPr>
          <p:cNvPr id="4" name="Text 2"/>
          <p:cNvSpPr txBox="1"/>
          <p:nvPr/>
        </p:nvSpPr>
        <p:spPr>
          <a:xfrm>
            <a:off x="914400" y="1645920"/>
            <a:ext cx="10332720" cy="457200"/>
          </a:xfrm>
          <a:prstGeom prst="rect">
            <a:avLst/>
          </a:prstGeom>
          <a:noFill/>
          <a:ln/>
        </p:spPr>
        <p:txBody>
          <a:bodyPr wrap="square" rtlCol="0" anchor="ctr"/>
          <a:lstStyle/>
          <a:p>
            <a:pPr marL="0" indent="0">
              <a:buNone/>
            </a:pPr>
            <a:r>
              <a:rPr lang="en-US" sz="1900" b="1" dirty="0">
                <a:solidFill>
                  <a:srgbClr val="17263B"/>
                </a:solidFill>
                <a:latin typeface="Georgia" pitchFamily="34" charset="0"/>
                <a:ea typeface="Georgia" pitchFamily="34" charset="-122"/>
                <a:cs typeface="Georgia" pitchFamily="34" charset="-120"/>
              </a:rPr>
              <a:t>The $100 Million Google &amp; Facebook Scam</a:t>
            </a:r>
            <a:endParaRPr lang="en-US" sz="1900" dirty="0"/>
          </a:p>
        </p:txBody>
      </p:sp>
      <p:sp>
        <p:nvSpPr>
          <p:cNvPr id="5" name="Text 3"/>
          <p:cNvSpPr txBox="1"/>
          <p:nvPr/>
        </p:nvSpPr>
        <p:spPr>
          <a:xfrm>
            <a:off x="914400" y="2103120"/>
            <a:ext cx="10332720" cy="320040"/>
          </a:xfrm>
          <a:prstGeom prst="rect">
            <a:avLst/>
          </a:prstGeom>
          <a:noFill/>
          <a:ln/>
        </p:spPr>
        <p:txBody>
          <a:bodyPr wrap="square" rtlCol="0" anchor="ctr"/>
          <a:lstStyle/>
          <a:p>
            <a:pPr marL="0" indent="0">
              <a:buNone/>
            </a:pPr>
            <a:r>
              <a:rPr lang="en-US" sz="1150" i="1" dirty="0">
                <a:solidFill>
                  <a:srgbClr val="8A97A6"/>
                </a:solidFill>
                <a:latin typeface="Calibri" pitchFamily="34" charset="0"/>
                <a:ea typeface="Calibri" pitchFamily="34" charset="-122"/>
                <a:cs typeface="Calibri" pitchFamily="34" charset="-120"/>
              </a:rPr>
              <a:t>2013–2015 - United States / Lithuania</a:t>
            </a:r>
            <a:endParaRPr lang="en-US" sz="1150" dirty="0"/>
          </a:p>
        </p:txBody>
      </p:sp>
      <p:sp>
        <p:nvSpPr>
          <p:cNvPr id="6" name="Text 4"/>
          <p:cNvSpPr txBox="1"/>
          <p:nvPr/>
        </p:nvSpPr>
        <p:spPr>
          <a:xfrm>
            <a:off x="914400" y="2560320"/>
            <a:ext cx="10332720" cy="1188720"/>
          </a:xfrm>
          <a:prstGeom prst="rect">
            <a:avLst/>
          </a:prstGeom>
          <a:noFill/>
          <a:ln/>
        </p:spPr>
        <p:txBody>
          <a:bodyPr wrap="square" rtlCol="0" anchor="ctr"/>
          <a:lstStyle/>
          <a:p>
            <a:pPr marL="0" indent="0">
              <a:buNone/>
            </a:pPr>
            <a:r>
              <a:rPr lang="en-US" sz="1300" dirty="0">
                <a:solidFill>
                  <a:srgbClr val="42484F"/>
                </a:solidFill>
                <a:latin typeface="Calibri" pitchFamily="34" charset="0"/>
                <a:ea typeface="Calibri" pitchFamily="34" charset="-122"/>
                <a:cs typeface="Calibri" pitchFamily="34" charset="-120"/>
              </a:rPr>
              <a:t>A Lithuanian man, Evaldas Rimasauskas, set up a fake company impersonating Quanta Computer, a real Taiwan-based hardware supplier that both Google and Facebook genuinely did business with. Using forged invoices, contracts, and corporate stamps, he convinced accounting staff at both companies to wire payments to bank accounts he controlled in Latvia and Cyprus.</a:t>
            </a:r>
            <a:endParaRPr lang="en-US" sz="1300" dirty="0"/>
          </a:p>
        </p:txBody>
      </p:sp>
      <p:sp>
        <p:nvSpPr>
          <p:cNvPr id="7" name="Text 5"/>
          <p:cNvSpPr txBox="1"/>
          <p:nvPr/>
        </p:nvSpPr>
        <p:spPr>
          <a:xfrm>
            <a:off x="914400" y="3794760"/>
            <a:ext cx="10332720" cy="1005840"/>
          </a:xfrm>
          <a:prstGeom prst="rect">
            <a:avLst/>
          </a:prstGeom>
          <a:noFill/>
          <a:ln/>
        </p:spPr>
        <p:txBody>
          <a:bodyPr wrap="square" rtlCol="0" anchor="ctr"/>
          <a:lstStyle/>
          <a:p>
            <a:pPr marL="0" indent="0">
              <a:buNone/>
            </a:pPr>
            <a:r>
              <a:rPr lang="en-US" sz="1300" dirty="0">
                <a:solidFill>
                  <a:srgbClr val="42484F"/>
                </a:solidFill>
                <a:latin typeface="Calibri" pitchFamily="34" charset="0"/>
                <a:ea typeface="Calibri" pitchFamily="34" charset="-122"/>
                <a:cs typeface="Calibri" pitchFamily="34" charset="-120"/>
              </a:rPr>
              <a:t>By the time the scheme was uncovered, Google had paid out $23 million and Facebook had paid $99 million, over $100 million combined. Rimasauskas was extradited to the U.S. and pleaded guilty to wire fraud in 2019. Facebook recovered most of the money.</a:t>
            </a:r>
            <a:endParaRPr lang="en-US" sz="1300" dirty="0"/>
          </a:p>
        </p:txBody>
      </p:sp>
      <p:sp>
        <p:nvSpPr>
          <p:cNvPr id="8" name="Text 6"/>
          <p:cNvSpPr txBox="1"/>
          <p:nvPr/>
        </p:nvSpPr>
        <p:spPr>
          <a:xfrm>
            <a:off x="914400" y="4937760"/>
            <a:ext cx="10332720" cy="731520"/>
          </a:xfrm>
          <a:prstGeom prst="rect">
            <a:avLst/>
          </a:prstGeom>
          <a:noFill/>
          <a:ln/>
        </p:spPr>
        <p:txBody>
          <a:bodyPr wrap="square" rtlCol="0" anchor="ctr"/>
          <a:lstStyle/>
          <a:p>
            <a:pPr marL="0" indent="0">
              <a:buNone/>
            </a:pPr>
            <a:r>
              <a:rPr lang="en-US" sz="1250" i="1" dirty="0">
                <a:solidFill>
                  <a:srgbClr val="17263B"/>
                </a:solidFill>
                <a:latin typeface="Calibri" pitchFamily="34" charset="0"/>
                <a:ea typeface="Calibri" pitchFamily="34" charset="-122"/>
                <a:cs typeface="Calibri" pitchFamily="34" charset="-120"/>
              </a:rPr>
              <a:t>Why it matters: even the world's largest, best-resourced tech companies were successfully deceived, because the attack targeted people and internal processes, not software vulnerabilities.</a:t>
            </a:r>
            <a:endParaRPr lang="en-US" sz="1250" dirty="0"/>
          </a:p>
        </p:txBody>
      </p:sp>
      <p:sp>
        <p:nvSpPr>
          <p:cNvPr id="9" name="Text 7"/>
          <p:cNvSpPr txBox="1"/>
          <p:nvPr/>
        </p:nvSpPr>
        <p:spPr>
          <a:xfrm>
            <a:off x="914400" y="5760720"/>
            <a:ext cx="10332720" cy="274320"/>
          </a:xfrm>
          <a:prstGeom prst="rect">
            <a:avLst/>
          </a:prstGeom>
          <a:noFill/>
          <a:ln/>
        </p:spPr>
        <p:txBody>
          <a:bodyPr wrap="square" rtlCol="0" anchor="ctr"/>
          <a:lstStyle/>
          <a:p>
            <a:pPr marL="0" indent="0">
              <a:buNone/>
            </a:pPr>
            <a:r>
              <a:rPr lang="en-US" sz="950" i="1" dirty="0">
                <a:solidFill>
                  <a:srgbClr val="8A97A6"/>
                </a:solidFill>
                <a:latin typeface="Calibri" pitchFamily="34" charset="0"/>
                <a:ea typeface="Calibri" pitchFamily="34" charset="-122"/>
                <a:cs typeface="Calibri" pitchFamily="34" charset="-120"/>
              </a:rPr>
              <a:t>Source: U.S. Department of Justice, via NBC News and CNBC court reporting (2019)</a:t>
            </a:r>
            <a:endParaRPr lang="en-US" sz="950" dirty="0"/>
          </a:p>
        </p:txBody>
      </p:sp>
      <p:sp>
        <p:nvSpPr>
          <p:cNvPr id="10" name="Text 8"/>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11" name="Text 9"/>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Real-World Examples: Nigeria</a:t>
            </a:r>
            <a:endParaRPr lang="en-US" sz="2800" dirty="0"/>
          </a:p>
        </p:txBody>
      </p:sp>
      <p:sp>
        <p:nvSpPr>
          <p:cNvPr id="3" name="Shape 1"/>
          <p:cNvSpPr/>
          <p:nvPr/>
        </p:nvSpPr>
        <p:spPr>
          <a:xfrm>
            <a:off x="548640" y="1371600"/>
            <a:ext cx="11064240" cy="2331720"/>
          </a:xfrm>
          <a:prstGeom prst="roundRect">
            <a:avLst>
              <a:gd name="adj" fmla="val 3922"/>
            </a:avLst>
          </a:prstGeom>
          <a:solidFill>
            <a:srgbClr val="F3F5F8"/>
          </a:solidFill>
          <a:ln/>
        </p:spPr>
      </p:sp>
      <p:sp>
        <p:nvSpPr>
          <p:cNvPr id="4" name="Text 2"/>
          <p:cNvSpPr txBox="1"/>
          <p:nvPr/>
        </p:nvSpPr>
        <p:spPr>
          <a:xfrm>
            <a:off x="914400" y="1600200"/>
            <a:ext cx="10332720" cy="365760"/>
          </a:xfrm>
          <a:prstGeom prst="rect">
            <a:avLst/>
          </a:prstGeom>
          <a:noFill/>
          <a:ln/>
        </p:spPr>
        <p:txBody>
          <a:bodyPr wrap="square" rtlCol="0" anchor="ctr"/>
          <a:lstStyle/>
          <a:p>
            <a:pPr marL="0" indent="0">
              <a:buNone/>
            </a:pPr>
            <a:r>
              <a:rPr lang="en-US" sz="1600" b="1" dirty="0">
                <a:solidFill>
                  <a:srgbClr val="17263B"/>
                </a:solidFill>
                <a:latin typeface="Georgia" pitchFamily="34" charset="0"/>
                <a:ea typeface="Georgia" pitchFamily="34" charset="-122"/>
                <a:cs typeface="Georgia" pitchFamily="34" charset="-120"/>
              </a:rPr>
              <a:t>The $60 Million “Mike” BEC Network - 2016</a:t>
            </a:r>
            <a:endParaRPr lang="en-US" sz="1600" dirty="0"/>
          </a:p>
        </p:txBody>
      </p:sp>
      <p:sp>
        <p:nvSpPr>
          <p:cNvPr id="5" name="Text 3"/>
          <p:cNvSpPr txBox="1"/>
          <p:nvPr/>
        </p:nvSpPr>
        <p:spPr>
          <a:xfrm>
            <a:off x="914400" y="2011680"/>
            <a:ext cx="10332720" cy="1188720"/>
          </a:xfrm>
          <a:prstGeom prst="rect">
            <a:avLst/>
          </a:prstGeom>
          <a:noFill/>
          <a:ln/>
        </p:spPr>
        <p:txBody>
          <a:bodyPr wrap="square" rtlCol="0" anchor="ctr"/>
          <a:lstStyle/>
          <a:p>
            <a:pPr marL="0" indent="0">
              <a:buNone/>
            </a:pPr>
            <a:r>
              <a:rPr lang="en-US" sz="1200" dirty="0">
                <a:solidFill>
                  <a:srgbClr val="42484F"/>
                </a:solidFill>
                <a:latin typeface="Calibri" pitchFamily="34" charset="0"/>
                <a:ea typeface="Calibri" pitchFamily="34" charset="-122"/>
                <a:cs typeface="Calibri" pitchFamily="34" charset="-120"/>
              </a:rPr>
              <a:t>INTERPOL and Nigeria's Economic and Financial Crimes Commission (EFCC - the federal agency that investigates financial crime in Nigeria) arrested a 40-year-old Nigerian man known as “Mike” in Port Harcourt. He led a 40-person network across Nigeria, Malaysia, and South Africa running BEC scams that totaled more than $60 million from businesses in eight countries, including one victim who alone paid $15.4 million.</a:t>
            </a:r>
            <a:endParaRPr lang="en-US" sz="1200" dirty="0"/>
          </a:p>
        </p:txBody>
      </p:sp>
      <p:sp>
        <p:nvSpPr>
          <p:cNvPr id="6" name="Text 4"/>
          <p:cNvSpPr txBox="1"/>
          <p:nvPr/>
        </p:nvSpPr>
        <p:spPr>
          <a:xfrm>
            <a:off x="914400" y="3291840"/>
            <a:ext cx="10332720" cy="274320"/>
          </a:xfrm>
          <a:prstGeom prst="rect">
            <a:avLst/>
          </a:prstGeom>
          <a:noFill/>
          <a:ln/>
        </p:spPr>
        <p:txBody>
          <a:bodyPr wrap="square" rtlCol="0" anchor="ctr"/>
          <a:lstStyle/>
          <a:p>
            <a:pPr marL="0" indent="0">
              <a:buNone/>
            </a:pPr>
            <a:r>
              <a:rPr lang="en-US" sz="900" i="1" dirty="0">
                <a:solidFill>
                  <a:srgbClr val="8A97A6"/>
                </a:solidFill>
                <a:latin typeface="Calibri" pitchFamily="34" charset="0"/>
                <a:ea typeface="Calibri" pitchFamily="34" charset="-122"/>
                <a:cs typeface="Calibri" pitchFamily="34" charset="-120"/>
              </a:rPr>
              <a:t>Source: INTERPOL official press statement, 2016</a:t>
            </a:r>
            <a:endParaRPr lang="en-US" sz="900" dirty="0"/>
          </a:p>
        </p:txBody>
      </p:sp>
      <p:sp>
        <p:nvSpPr>
          <p:cNvPr id="7" name="Shape 5"/>
          <p:cNvSpPr/>
          <p:nvPr/>
        </p:nvSpPr>
        <p:spPr>
          <a:xfrm>
            <a:off x="548640" y="3886200"/>
            <a:ext cx="11064240" cy="2240280"/>
          </a:xfrm>
          <a:prstGeom prst="roundRect">
            <a:avLst>
              <a:gd name="adj" fmla="val 4082"/>
            </a:avLst>
          </a:prstGeom>
          <a:solidFill>
            <a:srgbClr val="F3F5F8"/>
          </a:solidFill>
          <a:ln/>
        </p:spPr>
      </p:sp>
      <p:sp>
        <p:nvSpPr>
          <p:cNvPr id="8" name="Text 6"/>
          <p:cNvSpPr txBox="1"/>
          <p:nvPr/>
        </p:nvSpPr>
        <p:spPr>
          <a:xfrm>
            <a:off x="914400" y="4114800"/>
            <a:ext cx="10332720" cy="365760"/>
          </a:xfrm>
          <a:prstGeom prst="rect">
            <a:avLst/>
          </a:prstGeom>
          <a:noFill/>
          <a:ln/>
        </p:spPr>
        <p:txBody>
          <a:bodyPr wrap="square" rtlCol="0" anchor="ctr"/>
          <a:lstStyle/>
          <a:p>
            <a:pPr marL="0" indent="0">
              <a:buNone/>
            </a:pPr>
            <a:r>
              <a:rPr lang="en-US" sz="1600" b="1" dirty="0">
                <a:solidFill>
                  <a:srgbClr val="17263B"/>
                </a:solidFill>
                <a:latin typeface="Georgia" pitchFamily="34" charset="0"/>
                <a:ea typeface="Georgia" pitchFamily="34" charset="-122"/>
                <a:cs typeface="Georgia" pitchFamily="34" charset="-120"/>
              </a:rPr>
              <a:t>“DeepLoad” Malware Warning - Current</a:t>
            </a:r>
            <a:endParaRPr lang="en-US" sz="1600" dirty="0"/>
          </a:p>
        </p:txBody>
      </p:sp>
      <p:sp>
        <p:nvSpPr>
          <p:cNvPr id="9" name="Text 7"/>
          <p:cNvSpPr txBox="1"/>
          <p:nvPr/>
        </p:nvSpPr>
        <p:spPr>
          <a:xfrm>
            <a:off x="914400" y="4526280"/>
            <a:ext cx="10332720" cy="1188720"/>
          </a:xfrm>
          <a:prstGeom prst="rect">
            <a:avLst/>
          </a:prstGeom>
          <a:noFill/>
          <a:ln/>
        </p:spPr>
        <p:txBody>
          <a:bodyPr wrap="square" rtlCol="0" anchor="ctr"/>
          <a:lstStyle/>
          <a:p>
            <a:pPr marL="0" indent="0">
              <a:buNone/>
            </a:pPr>
            <a:r>
              <a:rPr lang="en-US" sz="1200" dirty="0">
                <a:solidFill>
                  <a:srgbClr val="42484F"/>
                </a:solidFill>
                <a:latin typeface="Calibri" pitchFamily="34" charset="0"/>
                <a:ea typeface="Calibri" pitchFamily="34" charset="-122"/>
                <a:cs typeface="Calibri" pitchFamily="34" charset="-120"/>
              </a:rPr>
              <a:t>Nigeria's National Information Technology Development Agency (NITDA - the government agency responsible for regulating and securing the country's IT sector) issued an active warning about “DeepLoad,” AI-enhanced malware spread through fake website error pop-ups that trick users into pasting a harmful command into their own computer. It has targeted Nigerian banks, government agencies, and individuals, and can steal banking logins and stored passwords.</a:t>
            </a:r>
            <a:endParaRPr lang="en-US" sz="1200" dirty="0"/>
          </a:p>
        </p:txBody>
      </p:sp>
      <p:sp>
        <p:nvSpPr>
          <p:cNvPr id="10" name="Text 8"/>
          <p:cNvSpPr txBox="1"/>
          <p:nvPr/>
        </p:nvSpPr>
        <p:spPr>
          <a:xfrm>
            <a:off x="914400" y="5760720"/>
            <a:ext cx="10332720" cy="274320"/>
          </a:xfrm>
          <a:prstGeom prst="rect">
            <a:avLst/>
          </a:prstGeom>
          <a:noFill/>
          <a:ln/>
        </p:spPr>
        <p:txBody>
          <a:bodyPr wrap="square" rtlCol="0" anchor="ctr"/>
          <a:lstStyle/>
          <a:p>
            <a:pPr marL="0" indent="0">
              <a:buNone/>
            </a:pPr>
            <a:r>
              <a:rPr lang="en-US" sz="900" i="1" dirty="0">
                <a:solidFill>
                  <a:srgbClr val="8A97A6"/>
                </a:solidFill>
                <a:latin typeface="Calibri" pitchFamily="34" charset="0"/>
                <a:ea typeface="Calibri" pitchFamily="34" charset="-122"/>
                <a:cs typeface="Calibri" pitchFamily="34" charset="-120"/>
              </a:rPr>
              <a:t>Source: NITDA public advisory, via Premium Times Nigeria</a:t>
            </a:r>
            <a:endParaRPr lang="en-US" sz="900" dirty="0"/>
          </a:p>
        </p:txBody>
      </p:sp>
      <p:sp>
        <p:nvSpPr>
          <p:cNvPr id="11" name="Text 9"/>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12" name="Text 10"/>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Best Practices to Stay Protected</a:t>
            </a:r>
            <a:endParaRPr lang="en-US" sz="2800" dirty="0"/>
          </a:p>
        </p:txBody>
      </p:sp>
      <p:sp>
        <p:nvSpPr>
          <p:cNvPr id="3" name="Shape 1"/>
          <p:cNvSpPr/>
          <p:nvPr/>
        </p:nvSpPr>
        <p:spPr>
          <a:xfrm>
            <a:off x="640080" y="1691640"/>
            <a:ext cx="164592" cy="164592"/>
          </a:xfrm>
          <a:prstGeom prst="ellipse">
            <a:avLst/>
          </a:prstGeom>
          <a:solidFill>
            <a:srgbClr val="2E7D5B"/>
          </a:solidFill>
          <a:ln/>
        </p:spPr>
      </p:sp>
      <p:sp>
        <p:nvSpPr>
          <p:cNvPr id="4" name="Text 2"/>
          <p:cNvSpPr txBox="1"/>
          <p:nvPr/>
        </p:nvSpPr>
        <p:spPr>
          <a:xfrm>
            <a:off x="960120" y="1508760"/>
            <a:ext cx="4937760" cy="822960"/>
          </a:xfrm>
          <a:prstGeom prst="rect">
            <a:avLst/>
          </a:prstGeom>
          <a:noFill/>
          <a:ln/>
        </p:spPr>
        <p:txBody>
          <a:bodyPr wrap="square" rtlCol="0" anchor="ctr"/>
          <a:lstStyle/>
          <a:p>
            <a:pPr marL="0" indent="0">
              <a:buNone/>
            </a:pPr>
            <a:r>
              <a:rPr lang="en-US" sz="1350" dirty="0">
                <a:solidFill>
                  <a:srgbClr val="42484F"/>
                </a:solidFill>
                <a:latin typeface="Calibri" pitchFamily="34" charset="0"/>
                <a:ea typeface="Calibri" pitchFamily="34" charset="-122"/>
                <a:cs typeface="Calibri" pitchFamily="34" charset="-120"/>
              </a:rPr>
              <a:t>Never share passwords, PINs, or one-time passcodes (OTPs) with anyone</a:t>
            </a:r>
            <a:endParaRPr lang="en-US" sz="1350" dirty="0"/>
          </a:p>
        </p:txBody>
      </p:sp>
      <p:sp>
        <p:nvSpPr>
          <p:cNvPr id="5" name="Shape 3"/>
          <p:cNvSpPr/>
          <p:nvPr/>
        </p:nvSpPr>
        <p:spPr>
          <a:xfrm>
            <a:off x="640080" y="2834640"/>
            <a:ext cx="164592" cy="164592"/>
          </a:xfrm>
          <a:prstGeom prst="ellipse">
            <a:avLst/>
          </a:prstGeom>
          <a:solidFill>
            <a:srgbClr val="2E7D5B"/>
          </a:solidFill>
          <a:ln/>
        </p:spPr>
      </p:sp>
      <p:sp>
        <p:nvSpPr>
          <p:cNvPr id="6" name="Text 4"/>
          <p:cNvSpPr txBox="1"/>
          <p:nvPr/>
        </p:nvSpPr>
        <p:spPr>
          <a:xfrm>
            <a:off x="960120" y="2651760"/>
            <a:ext cx="4937760" cy="822960"/>
          </a:xfrm>
          <a:prstGeom prst="rect">
            <a:avLst/>
          </a:prstGeom>
          <a:noFill/>
          <a:ln/>
        </p:spPr>
        <p:txBody>
          <a:bodyPr wrap="square" rtlCol="0" anchor="ctr"/>
          <a:lstStyle/>
          <a:p>
            <a:pPr marL="0" indent="0">
              <a:buNone/>
            </a:pPr>
            <a:r>
              <a:rPr lang="en-US" sz="1350" dirty="0">
                <a:solidFill>
                  <a:srgbClr val="42484F"/>
                </a:solidFill>
                <a:latin typeface="Calibri" pitchFamily="34" charset="0"/>
                <a:ea typeface="Calibri" pitchFamily="34" charset="-122"/>
                <a:cs typeface="Calibri" pitchFamily="34" charset="-120"/>
              </a:rPr>
              <a:t>Verify requests independently, call using a number you already trust, not one in the message</a:t>
            </a:r>
            <a:endParaRPr lang="en-US" sz="1350" dirty="0"/>
          </a:p>
        </p:txBody>
      </p:sp>
      <p:sp>
        <p:nvSpPr>
          <p:cNvPr id="7" name="Shape 5"/>
          <p:cNvSpPr/>
          <p:nvPr/>
        </p:nvSpPr>
        <p:spPr>
          <a:xfrm>
            <a:off x="640080" y="3977640"/>
            <a:ext cx="164592" cy="164592"/>
          </a:xfrm>
          <a:prstGeom prst="ellipse">
            <a:avLst/>
          </a:prstGeom>
          <a:solidFill>
            <a:srgbClr val="2E7D5B"/>
          </a:solidFill>
          <a:ln/>
        </p:spPr>
      </p:sp>
      <p:sp>
        <p:nvSpPr>
          <p:cNvPr id="8" name="Text 6"/>
          <p:cNvSpPr txBox="1"/>
          <p:nvPr/>
        </p:nvSpPr>
        <p:spPr>
          <a:xfrm>
            <a:off x="960120" y="3794760"/>
            <a:ext cx="4937760" cy="822960"/>
          </a:xfrm>
          <a:prstGeom prst="rect">
            <a:avLst/>
          </a:prstGeom>
          <a:noFill/>
          <a:ln/>
        </p:spPr>
        <p:txBody>
          <a:bodyPr wrap="square" rtlCol="0" anchor="ctr"/>
          <a:lstStyle/>
          <a:p>
            <a:pPr marL="0" indent="0">
              <a:buNone/>
            </a:pPr>
            <a:r>
              <a:rPr lang="en-US" sz="1350" dirty="0">
                <a:solidFill>
                  <a:srgbClr val="42484F"/>
                </a:solidFill>
                <a:latin typeface="Calibri" pitchFamily="34" charset="0"/>
                <a:ea typeface="Calibri" pitchFamily="34" charset="-122"/>
                <a:cs typeface="Calibri" pitchFamily="34" charset="-120"/>
              </a:rPr>
              <a:t>Hover over links before clicking; type known addresses directly</a:t>
            </a:r>
            <a:endParaRPr lang="en-US" sz="1350" dirty="0"/>
          </a:p>
        </p:txBody>
      </p:sp>
      <p:sp>
        <p:nvSpPr>
          <p:cNvPr id="9" name="Shape 7"/>
          <p:cNvSpPr/>
          <p:nvPr/>
        </p:nvSpPr>
        <p:spPr>
          <a:xfrm>
            <a:off x="6309360" y="1691640"/>
            <a:ext cx="164592" cy="164592"/>
          </a:xfrm>
          <a:prstGeom prst="ellipse">
            <a:avLst/>
          </a:prstGeom>
          <a:solidFill>
            <a:srgbClr val="2E7D5B"/>
          </a:solidFill>
          <a:ln/>
        </p:spPr>
      </p:sp>
      <p:sp>
        <p:nvSpPr>
          <p:cNvPr id="10" name="Text 8"/>
          <p:cNvSpPr txBox="1"/>
          <p:nvPr/>
        </p:nvSpPr>
        <p:spPr>
          <a:xfrm>
            <a:off x="6629400" y="1508760"/>
            <a:ext cx="4937760" cy="822960"/>
          </a:xfrm>
          <a:prstGeom prst="rect">
            <a:avLst/>
          </a:prstGeom>
          <a:noFill/>
          <a:ln/>
        </p:spPr>
        <p:txBody>
          <a:bodyPr wrap="square" rtlCol="0" anchor="ctr"/>
          <a:lstStyle/>
          <a:p>
            <a:pPr marL="0" indent="0">
              <a:buNone/>
            </a:pPr>
            <a:r>
              <a:rPr lang="en-US" sz="1350" dirty="0">
                <a:solidFill>
                  <a:srgbClr val="42484F"/>
                </a:solidFill>
                <a:latin typeface="Calibri" pitchFamily="34" charset="0"/>
                <a:ea typeface="Calibri" pitchFamily="34" charset="-122"/>
                <a:cs typeface="Calibri" pitchFamily="34" charset="-120"/>
              </a:rPr>
              <a:t>Enable multi-factor authentication (MFA) on every account that offers it</a:t>
            </a:r>
            <a:endParaRPr lang="en-US" sz="1350" dirty="0"/>
          </a:p>
        </p:txBody>
      </p:sp>
      <p:sp>
        <p:nvSpPr>
          <p:cNvPr id="11" name="Shape 9"/>
          <p:cNvSpPr/>
          <p:nvPr/>
        </p:nvSpPr>
        <p:spPr>
          <a:xfrm>
            <a:off x="6309360" y="2834640"/>
            <a:ext cx="164592" cy="164592"/>
          </a:xfrm>
          <a:prstGeom prst="ellipse">
            <a:avLst/>
          </a:prstGeom>
          <a:solidFill>
            <a:srgbClr val="2E7D5B"/>
          </a:solidFill>
          <a:ln/>
        </p:spPr>
      </p:sp>
      <p:sp>
        <p:nvSpPr>
          <p:cNvPr id="12" name="Text 10"/>
          <p:cNvSpPr txBox="1"/>
          <p:nvPr/>
        </p:nvSpPr>
        <p:spPr>
          <a:xfrm>
            <a:off x="6629400" y="2651760"/>
            <a:ext cx="4937760" cy="822960"/>
          </a:xfrm>
          <a:prstGeom prst="rect">
            <a:avLst/>
          </a:prstGeom>
          <a:noFill/>
          <a:ln/>
        </p:spPr>
        <p:txBody>
          <a:bodyPr wrap="square" rtlCol="0" anchor="ctr"/>
          <a:lstStyle/>
          <a:p>
            <a:pPr marL="0" indent="0">
              <a:buNone/>
            </a:pPr>
            <a:r>
              <a:rPr lang="en-US" sz="1350" dirty="0">
                <a:solidFill>
                  <a:srgbClr val="42484F"/>
                </a:solidFill>
                <a:latin typeface="Calibri" pitchFamily="34" charset="0"/>
                <a:ea typeface="Calibri" pitchFamily="34" charset="-122"/>
                <a:cs typeface="Calibri" pitchFamily="34" charset="-120"/>
              </a:rPr>
              <a:t>Keep software and browsers updated</a:t>
            </a:r>
            <a:endParaRPr lang="en-US" sz="1350" dirty="0"/>
          </a:p>
        </p:txBody>
      </p:sp>
      <p:sp>
        <p:nvSpPr>
          <p:cNvPr id="13" name="Shape 11"/>
          <p:cNvSpPr/>
          <p:nvPr/>
        </p:nvSpPr>
        <p:spPr>
          <a:xfrm>
            <a:off x="6309360" y="3977640"/>
            <a:ext cx="164592" cy="164592"/>
          </a:xfrm>
          <a:prstGeom prst="ellipse">
            <a:avLst/>
          </a:prstGeom>
          <a:solidFill>
            <a:srgbClr val="2E7D5B"/>
          </a:solidFill>
          <a:ln/>
        </p:spPr>
      </p:sp>
      <p:sp>
        <p:nvSpPr>
          <p:cNvPr id="14" name="Text 12"/>
          <p:cNvSpPr txBox="1"/>
          <p:nvPr/>
        </p:nvSpPr>
        <p:spPr>
          <a:xfrm>
            <a:off x="6629400" y="3794760"/>
            <a:ext cx="4937760" cy="822960"/>
          </a:xfrm>
          <a:prstGeom prst="rect">
            <a:avLst/>
          </a:prstGeom>
          <a:noFill/>
          <a:ln/>
        </p:spPr>
        <p:txBody>
          <a:bodyPr wrap="square" rtlCol="0" anchor="ctr"/>
          <a:lstStyle/>
          <a:p>
            <a:pPr marL="0" indent="0">
              <a:buNone/>
            </a:pPr>
            <a:r>
              <a:rPr lang="en-US" sz="1350" dirty="0">
                <a:solidFill>
                  <a:srgbClr val="42484F"/>
                </a:solidFill>
                <a:latin typeface="Calibri" pitchFamily="34" charset="0"/>
                <a:ea typeface="Calibri" pitchFamily="34" charset="-122"/>
                <a:cs typeface="Calibri" pitchFamily="34" charset="-120"/>
              </a:rPr>
              <a:t>Use a unique password for every account</a:t>
            </a:r>
            <a:endParaRPr lang="en-US" sz="1350" dirty="0"/>
          </a:p>
        </p:txBody>
      </p:sp>
      <p:sp>
        <p:nvSpPr>
          <p:cNvPr id="15" name="Text 13"/>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16" name="Text 14"/>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263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If You Suspect You've Been Targeted</a:t>
            </a:r>
            <a:endParaRPr lang="en-US" sz="2800" dirty="0"/>
          </a:p>
        </p:txBody>
      </p:sp>
      <p:sp>
        <p:nvSpPr>
          <p:cNvPr id="3" name="Shape 1"/>
          <p:cNvSpPr/>
          <p:nvPr/>
        </p:nvSpPr>
        <p:spPr>
          <a:xfrm>
            <a:off x="548640" y="1554480"/>
            <a:ext cx="11064240" cy="1051560"/>
          </a:xfrm>
          <a:prstGeom prst="roundRect">
            <a:avLst>
              <a:gd name="adj" fmla="val 8696"/>
            </a:avLst>
          </a:prstGeom>
          <a:solidFill>
            <a:srgbClr val="27405E"/>
          </a:solidFill>
          <a:ln/>
        </p:spPr>
      </p:sp>
      <p:sp>
        <p:nvSpPr>
          <p:cNvPr id="4" name="Shape 2"/>
          <p:cNvSpPr/>
          <p:nvPr/>
        </p:nvSpPr>
        <p:spPr>
          <a:xfrm>
            <a:off x="822960" y="1801368"/>
            <a:ext cx="548640" cy="548640"/>
          </a:xfrm>
          <a:prstGeom prst="ellipse">
            <a:avLst/>
          </a:prstGeom>
          <a:solidFill>
            <a:srgbClr val="C98A2C"/>
          </a:solidFill>
          <a:ln/>
        </p:spPr>
      </p:sp>
      <p:sp>
        <p:nvSpPr>
          <p:cNvPr id="5" name="Text 3"/>
          <p:cNvSpPr txBox="1"/>
          <p:nvPr/>
        </p:nvSpPr>
        <p:spPr>
          <a:xfrm>
            <a:off x="822960" y="1801368"/>
            <a:ext cx="548640" cy="548640"/>
          </a:xfrm>
          <a:prstGeom prst="rect">
            <a:avLst/>
          </a:prstGeom>
          <a:noFill/>
          <a:ln/>
        </p:spPr>
        <p:txBody>
          <a:bodyPr wrap="square" rtlCol="0" anchor="ctr"/>
          <a:lstStyle/>
          <a:p>
            <a:pPr marL="0" indent="0" algn="ctr">
              <a:buNone/>
            </a:pPr>
            <a:r>
              <a:rPr lang="en-US" sz="1700" b="1" dirty="0">
                <a:solidFill>
                  <a:srgbClr val="17263B"/>
                </a:solidFill>
                <a:latin typeface="Georgia" pitchFamily="34" charset="0"/>
                <a:ea typeface="Georgia" pitchFamily="34" charset="-122"/>
                <a:cs typeface="Georgia" pitchFamily="34" charset="-120"/>
              </a:rPr>
              <a:t>1</a:t>
            </a:r>
            <a:endParaRPr lang="en-US" sz="1700" dirty="0"/>
          </a:p>
        </p:txBody>
      </p:sp>
      <p:sp>
        <p:nvSpPr>
          <p:cNvPr id="6" name="Text 4"/>
          <p:cNvSpPr txBox="1"/>
          <p:nvPr/>
        </p:nvSpPr>
        <p:spPr>
          <a:xfrm>
            <a:off x="1600200" y="1664208"/>
            <a:ext cx="969264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Disconnect</a:t>
            </a:r>
            <a:endParaRPr lang="en-US" sz="1400" dirty="0"/>
          </a:p>
        </p:txBody>
      </p:sp>
      <p:sp>
        <p:nvSpPr>
          <p:cNvPr id="7" name="Text 5"/>
          <p:cNvSpPr txBox="1"/>
          <p:nvPr/>
        </p:nvSpPr>
        <p:spPr>
          <a:xfrm>
            <a:off x="1600200" y="2011680"/>
            <a:ext cx="9692640" cy="502920"/>
          </a:xfrm>
          <a:prstGeom prst="rect">
            <a:avLst/>
          </a:prstGeom>
          <a:noFill/>
          <a:ln/>
        </p:spPr>
        <p:txBody>
          <a:bodyPr wrap="square" rtlCol="0" anchor="ctr"/>
          <a:lstStyle/>
          <a:p>
            <a:pPr marL="0" indent="0">
              <a:buNone/>
            </a:pPr>
            <a:r>
              <a:rPr lang="en-GB" sz="1200" b="0" i="0" u="none" strike="noStrike" dirty="0">
                <a:solidFill>
                  <a:srgbClr val="F9FAFB"/>
                </a:solidFill>
                <a:effectLst/>
                <a:latin typeface="quote-cjk-patch"/>
              </a:rPr>
              <a:t>If you suspect malware, disconnect </a:t>
            </a:r>
            <a:r>
              <a:rPr lang="en-GB" sz="1200" b="1" i="0" u="none" strike="noStrike" dirty="0">
                <a:solidFill>
                  <a:srgbClr val="F9FAFB"/>
                </a:solidFill>
                <a:effectLst/>
                <a:latin typeface="quote-cjk-patch"/>
              </a:rPr>
              <a:t>that device</a:t>
            </a:r>
            <a:r>
              <a:rPr lang="en-GB" sz="1200" b="0" i="0" u="none" strike="noStrike" dirty="0">
                <a:solidFill>
                  <a:srgbClr val="F9FAFB"/>
                </a:solidFill>
                <a:effectLst/>
                <a:latin typeface="quote-cjk-patch"/>
              </a:rPr>
              <a:t> from the internet immediately (turn off Wi-Fi, unplug the Ethernet cable). This stops further data from leaving your device, but it does not undo the compromise. You still need to change passwords and report the incident.</a:t>
            </a:r>
            <a:endParaRPr lang="en-US" sz="1150" dirty="0"/>
          </a:p>
        </p:txBody>
      </p:sp>
      <p:sp>
        <p:nvSpPr>
          <p:cNvPr id="8" name="Shape 6"/>
          <p:cNvSpPr/>
          <p:nvPr/>
        </p:nvSpPr>
        <p:spPr>
          <a:xfrm>
            <a:off x="548640" y="2743200"/>
            <a:ext cx="11064240" cy="1051560"/>
          </a:xfrm>
          <a:prstGeom prst="roundRect">
            <a:avLst>
              <a:gd name="adj" fmla="val 8696"/>
            </a:avLst>
          </a:prstGeom>
          <a:solidFill>
            <a:srgbClr val="27405E"/>
          </a:solidFill>
          <a:ln/>
        </p:spPr>
      </p:sp>
      <p:sp>
        <p:nvSpPr>
          <p:cNvPr id="9" name="Shape 7"/>
          <p:cNvSpPr/>
          <p:nvPr/>
        </p:nvSpPr>
        <p:spPr>
          <a:xfrm>
            <a:off x="822960" y="2990088"/>
            <a:ext cx="548640" cy="548640"/>
          </a:xfrm>
          <a:prstGeom prst="ellipse">
            <a:avLst/>
          </a:prstGeom>
          <a:solidFill>
            <a:srgbClr val="C98A2C"/>
          </a:solidFill>
          <a:ln/>
        </p:spPr>
      </p:sp>
      <p:sp>
        <p:nvSpPr>
          <p:cNvPr id="10" name="Text 8"/>
          <p:cNvSpPr txBox="1"/>
          <p:nvPr/>
        </p:nvSpPr>
        <p:spPr>
          <a:xfrm>
            <a:off x="822960" y="2990088"/>
            <a:ext cx="548640" cy="548640"/>
          </a:xfrm>
          <a:prstGeom prst="rect">
            <a:avLst/>
          </a:prstGeom>
          <a:noFill/>
          <a:ln/>
        </p:spPr>
        <p:txBody>
          <a:bodyPr wrap="square" rtlCol="0" anchor="ctr"/>
          <a:lstStyle/>
          <a:p>
            <a:pPr marL="0" indent="0" algn="ctr">
              <a:buNone/>
            </a:pPr>
            <a:r>
              <a:rPr lang="en-US" sz="1700" b="1" dirty="0">
                <a:solidFill>
                  <a:srgbClr val="17263B"/>
                </a:solidFill>
                <a:latin typeface="Georgia" pitchFamily="34" charset="0"/>
                <a:ea typeface="Georgia" pitchFamily="34" charset="-122"/>
                <a:cs typeface="Georgia" pitchFamily="34" charset="-120"/>
              </a:rPr>
              <a:t>2</a:t>
            </a:r>
            <a:endParaRPr lang="en-US" sz="1700" dirty="0"/>
          </a:p>
        </p:txBody>
      </p:sp>
      <p:sp>
        <p:nvSpPr>
          <p:cNvPr id="11" name="Text 9"/>
          <p:cNvSpPr txBox="1"/>
          <p:nvPr/>
        </p:nvSpPr>
        <p:spPr>
          <a:xfrm>
            <a:off x="1600200" y="2852928"/>
            <a:ext cx="969264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Change passwords</a:t>
            </a:r>
            <a:endParaRPr lang="en-US" sz="1400" dirty="0"/>
          </a:p>
        </p:txBody>
      </p:sp>
      <p:sp>
        <p:nvSpPr>
          <p:cNvPr id="12" name="Text 10"/>
          <p:cNvSpPr txBox="1"/>
          <p:nvPr/>
        </p:nvSpPr>
        <p:spPr>
          <a:xfrm>
            <a:off x="1600200" y="3200400"/>
            <a:ext cx="9692640" cy="502920"/>
          </a:xfrm>
          <a:prstGeom prst="rect">
            <a:avLst/>
          </a:prstGeom>
          <a:noFill/>
          <a:ln/>
        </p:spPr>
        <p:txBody>
          <a:bodyPr wrap="square" rtlCol="0" anchor="ctr"/>
          <a:lstStyle/>
          <a:p>
            <a:pPr marL="0" indent="0">
              <a:buNone/>
            </a:pPr>
            <a:r>
              <a:rPr lang="en-US" sz="1150" dirty="0">
                <a:solidFill>
                  <a:srgbClr val="C6D2DE"/>
                </a:solidFill>
                <a:latin typeface="Calibri" pitchFamily="34" charset="0"/>
                <a:ea typeface="Calibri" pitchFamily="34" charset="-122"/>
                <a:cs typeface="Calibri" pitchFamily="34" charset="-120"/>
              </a:rPr>
              <a:t>From a different, secure device, not the one you suspect is compromised.</a:t>
            </a:r>
            <a:endParaRPr lang="en-US" sz="1150" dirty="0"/>
          </a:p>
        </p:txBody>
      </p:sp>
      <p:sp>
        <p:nvSpPr>
          <p:cNvPr id="13" name="Shape 11"/>
          <p:cNvSpPr/>
          <p:nvPr/>
        </p:nvSpPr>
        <p:spPr>
          <a:xfrm>
            <a:off x="548640" y="3931920"/>
            <a:ext cx="11064240" cy="1051560"/>
          </a:xfrm>
          <a:prstGeom prst="roundRect">
            <a:avLst>
              <a:gd name="adj" fmla="val 8696"/>
            </a:avLst>
          </a:prstGeom>
          <a:solidFill>
            <a:srgbClr val="27405E"/>
          </a:solidFill>
          <a:ln/>
        </p:spPr>
      </p:sp>
      <p:sp>
        <p:nvSpPr>
          <p:cNvPr id="14" name="Shape 12"/>
          <p:cNvSpPr/>
          <p:nvPr/>
        </p:nvSpPr>
        <p:spPr>
          <a:xfrm>
            <a:off x="822960" y="4178808"/>
            <a:ext cx="548640" cy="548640"/>
          </a:xfrm>
          <a:prstGeom prst="ellipse">
            <a:avLst/>
          </a:prstGeom>
          <a:solidFill>
            <a:srgbClr val="C98A2C"/>
          </a:solidFill>
          <a:ln/>
        </p:spPr>
      </p:sp>
      <p:sp>
        <p:nvSpPr>
          <p:cNvPr id="15" name="Text 13"/>
          <p:cNvSpPr txBox="1"/>
          <p:nvPr/>
        </p:nvSpPr>
        <p:spPr>
          <a:xfrm>
            <a:off x="822960" y="4178808"/>
            <a:ext cx="548640" cy="548640"/>
          </a:xfrm>
          <a:prstGeom prst="rect">
            <a:avLst/>
          </a:prstGeom>
          <a:noFill/>
          <a:ln/>
        </p:spPr>
        <p:txBody>
          <a:bodyPr wrap="square" rtlCol="0" anchor="ctr"/>
          <a:lstStyle/>
          <a:p>
            <a:pPr marL="0" indent="0" algn="ctr">
              <a:buNone/>
            </a:pPr>
            <a:r>
              <a:rPr lang="en-US" sz="1700" b="1" dirty="0">
                <a:solidFill>
                  <a:srgbClr val="17263B"/>
                </a:solidFill>
                <a:latin typeface="Georgia" pitchFamily="34" charset="0"/>
                <a:ea typeface="Georgia" pitchFamily="34" charset="-122"/>
                <a:cs typeface="Georgia" pitchFamily="34" charset="-120"/>
              </a:rPr>
              <a:t>3</a:t>
            </a:r>
            <a:endParaRPr lang="en-US" sz="1700" dirty="0"/>
          </a:p>
        </p:txBody>
      </p:sp>
      <p:sp>
        <p:nvSpPr>
          <p:cNvPr id="16" name="Text 14"/>
          <p:cNvSpPr txBox="1"/>
          <p:nvPr/>
        </p:nvSpPr>
        <p:spPr>
          <a:xfrm>
            <a:off x="1600200" y="4041648"/>
            <a:ext cx="969264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Report it</a:t>
            </a:r>
            <a:endParaRPr lang="en-US" sz="1400" dirty="0"/>
          </a:p>
        </p:txBody>
      </p:sp>
      <p:sp>
        <p:nvSpPr>
          <p:cNvPr id="17" name="Text 15"/>
          <p:cNvSpPr txBox="1"/>
          <p:nvPr/>
        </p:nvSpPr>
        <p:spPr>
          <a:xfrm>
            <a:off x="1600200" y="4389120"/>
            <a:ext cx="9692640" cy="502920"/>
          </a:xfrm>
          <a:prstGeom prst="rect">
            <a:avLst/>
          </a:prstGeom>
          <a:noFill/>
          <a:ln/>
        </p:spPr>
        <p:txBody>
          <a:bodyPr wrap="square" rtlCol="0" anchor="ctr"/>
          <a:lstStyle/>
          <a:p>
            <a:pPr marL="0" indent="0">
              <a:buNone/>
            </a:pPr>
            <a:r>
              <a:rPr lang="en-US" sz="1150" dirty="0">
                <a:solidFill>
                  <a:srgbClr val="C6D2DE"/>
                </a:solidFill>
                <a:latin typeface="Calibri" pitchFamily="34" charset="0"/>
                <a:ea typeface="Calibri" pitchFamily="34" charset="-122"/>
                <a:cs typeface="Calibri" pitchFamily="34" charset="-120"/>
              </a:rPr>
              <a:t>Contact your bank, and report to the relevant authority (EFCC in Nigeria, IC3 in the U.S., or your local cybercrime unit).</a:t>
            </a:r>
            <a:endParaRPr lang="en-US" sz="1150" dirty="0"/>
          </a:p>
        </p:txBody>
      </p:sp>
      <p:sp>
        <p:nvSpPr>
          <p:cNvPr id="18" name="Shape 16"/>
          <p:cNvSpPr/>
          <p:nvPr/>
        </p:nvSpPr>
        <p:spPr>
          <a:xfrm>
            <a:off x="548640" y="5120640"/>
            <a:ext cx="11064240" cy="1051560"/>
          </a:xfrm>
          <a:prstGeom prst="roundRect">
            <a:avLst>
              <a:gd name="adj" fmla="val 8696"/>
            </a:avLst>
          </a:prstGeom>
          <a:solidFill>
            <a:srgbClr val="27405E"/>
          </a:solidFill>
          <a:ln/>
        </p:spPr>
      </p:sp>
      <p:sp>
        <p:nvSpPr>
          <p:cNvPr id="19" name="Shape 17"/>
          <p:cNvSpPr/>
          <p:nvPr/>
        </p:nvSpPr>
        <p:spPr>
          <a:xfrm>
            <a:off x="822960" y="5367528"/>
            <a:ext cx="548640" cy="548640"/>
          </a:xfrm>
          <a:prstGeom prst="ellipse">
            <a:avLst/>
          </a:prstGeom>
          <a:solidFill>
            <a:srgbClr val="C98A2C"/>
          </a:solidFill>
          <a:ln/>
        </p:spPr>
      </p:sp>
      <p:sp>
        <p:nvSpPr>
          <p:cNvPr id="20" name="Text 18"/>
          <p:cNvSpPr txBox="1"/>
          <p:nvPr/>
        </p:nvSpPr>
        <p:spPr>
          <a:xfrm>
            <a:off x="822960" y="5367528"/>
            <a:ext cx="548640" cy="548640"/>
          </a:xfrm>
          <a:prstGeom prst="rect">
            <a:avLst/>
          </a:prstGeom>
          <a:noFill/>
          <a:ln/>
        </p:spPr>
        <p:txBody>
          <a:bodyPr wrap="square" rtlCol="0" anchor="ctr"/>
          <a:lstStyle/>
          <a:p>
            <a:pPr marL="0" indent="0" algn="ctr">
              <a:buNone/>
            </a:pPr>
            <a:r>
              <a:rPr lang="en-US" sz="1700" b="1" dirty="0">
                <a:solidFill>
                  <a:srgbClr val="17263B"/>
                </a:solidFill>
                <a:latin typeface="Georgia" pitchFamily="34" charset="0"/>
                <a:ea typeface="Georgia" pitchFamily="34" charset="-122"/>
                <a:cs typeface="Georgia" pitchFamily="34" charset="-120"/>
              </a:rPr>
              <a:t>4</a:t>
            </a:r>
            <a:endParaRPr lang="en-US" sz="1700" dirty="0"/>
          </a:p>
        </p:txBody>
      </p:sp>
      <p:sp>
        <p:nvSpPr>
          <p:cNvPr id="21" name="Text 19"/>
          <p:cNvSpPr txBox="1"/>
          <p:nvPr/>
        </p:nvSpPr>
        <p:spPr>
          <a:xfrm>
            <a:off x="1600200" y="5230368"/>
            <a:ext cx="969264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Document everything</a:t>
            </a:r>
            <a:endParaRPr lang="en-US" sz="1400" dirty="0"/>
          </a:p>
        </p:txBody>
      </p:sp>
      <p:sp>
        <p:nvSpPr>
          <p:cNvPr id="22" name="Text 20"/>
          <p:cNvSpPr txBox="1"/>
          <p:nvPr/>
        </p:nvSpPr>
        <p:spPr>
          <a:xfrm>
            <a:off x="1600200" y="5577840"/>
            <a:ext cx="9692640" cy="502920"/>
          </a:xfrm>
          <a:prstGeom prst="rect">
            <a:avLst/>
          </a:prstGeom>
          <a:noFill/>
          <a:ln/>
        </p:spPr>
        <p:txBody>
          <a:bodyPr wrap="square" rtlCol="0" anchor="ctr"/>
          <a:lstStyle/>
          <a:p>
            <a:pPr marL="0" indent="0">
              <a:buNone/>
            </a:pPr>
            <a:r>
              <a:rPr lang="en-US" sz="1150" dirty="0">
                <a:solidFill>
                  <a:srgbClr val="C6D2DE"/>
                </a:solidFill>
                <a:latin typeface="Calibri" pitchFamily="34" charset="0"/>
                <a:ea typeface="Calibri" pitchFamily="34" charset="-122"/>
                <a:cs typeface="Calibri" pitchFamily="34" charset="-120"/>
              </a:rPr>
              <a:t>Keep emails, screenshots, and transaction records as evidence.</a:t>
            </a:r>
            <a:endParaRPr lang="en-US" sz="1150" dirty="0"/>
          </a:p>
        </p:txBody>
      </p:sp>
      <p:sp>
        <p:nvSpPr>
          <p:cNvPr id="23" name="Text 21"/>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24" name="Text 22"/>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Quick Quiz: Questions 1 &amp; 2</a:t>
            </a:r>
            <a:endParaRPr lang="en-US" sz="2800" dirty="0"/>
          </a:p>
        </p:txBody>
      </p:sp>
      <p:sp>
        <p:nvSpPr>
          <p:cNvPr id="3" name="Shape 1"/>
          <p:cNvSpPr/>
          <p:nvPr/>
        </p:nvSpPr>
        <p:spPr>
          <a:xfrm>
            <a:off x="548640" y="1371600"/>
            <a:ext cx="11064240" cy="2331720"/>
          </a:xfrm>
          <a:prstGeom prst="roundRect">
            <a:avLst>
              <a:gd name="adj" fmla="val 3137"/>
            </a:avLst>
          </a:prstGeom>
          <a:solidFill>
            <a:srgbClr val="F3F5F8"/>
          </a:solidFill>
          <a:ln/>
        </p:spPr>
      </p:sp>
      <p:sp>
        <p:nvSpPr>
          <p:cNvPr id="4" name="Text 2"/>
          <p:cNvSpPr txBox="1"/>
          <p:nvPr/>
        </p:nvSpPr>
        <p:spPr>
          <a:xfrm>
            <a:off x="822960" y="1554480"/>
            <a:ext cx="10515600" cy="82296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Q1: An email from “security@yourb4nk.com” says your account will be suspended in 24 hours unless you click a link to verify your identity. What should you do?</a:t>
            </a:r>
            <a:endParaRPr lang="en-US" sz="1350" dirty="0"/>
          </a:p>
        </p:txBody>
      </p:sp>
      <p:sp>
        <p:nvSpPr>
          <p:cNvPr id="5" name="Text 3"/>
          <p:cNvSpPr txBox="1"/>
          <p:nvPr/>
        </p:nvSpPr>
        <p:spPr>
          <a:xfrm>
            <a:off x="822960" y="2468880"/>
            <a:ext cx="10515600" cy="822960"/>
          </a:xfrm>
          <a:prstGeom prst="rect">
            <a:avLst/>
          </a:prstGeom>
          <a:noFill/>
          <a:ln/>
        </p:spPr>
        <p:txBody>
          <a:bodyPr wrap="square" rtlCol="0" anchor="ctr"/>
          <a:lstStyle/>
          <a:p>
            <a:pPr marL="0" indent="0">
              <a:buNone/>
            </a:pPr>
            <a:r>
              <a:rPr lang="en-US" sz="1200" i="1" dirty="0">
                <a:solidFill>
                  <a:srgbClr val="2E7D5B"/>
                </a:solidFill>
                <a:latin typeface="Calibri" pitchFamily="34" charset="0"/>
                <a:ea typeface="Calibri" pitchFamily="34" charset="-122"/>
                <a:cs typeface="Calibri" pitchFamily="34" charset="-120"/>
              </a:rPr>
              <a:t>Answer: </a:t>
            </a:r>
            <a:r>
              <a:rPr lang="en-GB" sz="1200" i="1" dirty="0">
                <a:solidFill>
                  <a:srgbClr val="2E7D5B"/>
                </a:solidFill>
                <a:latin typeface="Calibri" pitchFamily="34" charset="0"/>
                <a:cs typeface="Calibri" pitchFamily="34" charset="-120"/>
              </a:rPr>
              <a:t>Delete it. Don't click anything. The sender domain yourb4nk.com uses a "4" instead of an "a",  a classic lookalike domain. Call your bank directly using the number on your card, never the number given in the message.</a:t>
            </a:r>
            <a:r>
              <a:rPr lang="en-US" sz="1200" i="1" dirty="0">
                <a:solidFill>
                  <a:srgbClr val="2E7D5B"/>
                </a:solidFill>
                <a:latin typeface="Calibri" pitchFamily="34" charset="0"/>
                <a:cs typeface="Calibri" pitchFamily="34" charset="-120"/>
              </a:rPr>
              <a:t>.</a:t>
            </a:r>
          </a:p>
        </p:txBody>
      </p:sp>
      <p:sp>
        <p:nvSpPr>
          <p:cNvPr id="6" name="Shape 4"/>
          <p:cNvSpPr/>
          <p:nvPr/>
        </p:nvSpPr>
        <p:spPr>
          <a:xfrm>
            <a:off x="548640" y="3931920"/>
            <a:ext cx="11064240" cy="2442376"/>
          </a:xfrm>
          <a:prstGeom prst="roundRect">
            <a:avLst>
              <a:gd name="adj" fmla="val 3333"/>
            </a:avLst>
          </a:prstGeom>
          <a:solidFill>
            <a:srgbClr val="F3F5F8"/>
          </a:solidFill>
          <a:ln/>
        </p:spPr>
      </p:sp>
      <p:sp>
        <p:nvSpPr>
          <p:cNvPr id="7" name="Text 5"/>
          <p:cNvSpPr txBox="1"/>
          <p:nvPr/>
        </p:nvSpPr>
        <p:spPr>
          <a:xfrm>
            <a:off x="822960" y="4114800"/>
            <a:ext cx="10515600" cy="45720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Q2: Which of these is the most reliable sign of a phishing email today?</a:t>
            </a:r>
            <a:endParaRPr lang="en-US" sz="1350" dirty="0"/>
          </a:p>
        </p:txBody>
      </p:sp>
      <p:sp>
        <p:nvSpPr>
          <p:cNvPr id="8" name="Text 6"/>
          <p:cNvSpPr txBox="1"/>
          <p:nvPr/>
        </p:nvSpPr>
        <p:spPr>
          <a:xfrm>
            <a:off x="822960" y="4709160"/>
            <a:ext cx="10515600" cy="1227814"/>
          </a:xfrm>
          <a:prstGeom prst="rect">
            <a:avLst/>
          </a:prstGeom>
          <a:noFill/>
          <a:ln/>
        </p:spPr>
        <p:txBody>
          <a:bodyPr wrap="square" rtlCol="0" anchor="ctr"/>
          <a:lstStyle/>
          <a:p>
            <a:pPr algn="l">
              <a:lnSpc>
                <a:spcPct val="150000"/>
              </a:lnSpc>
            </a:pPr>
            <a:r>
              <a:rPr lang="en-GB" sz="1200" i="1" dirty="0">
                <a:solidFill>
                  <a:srgbClr val="2E7D5B"/>
                </a:solidFill>
                <a:latin typeface="Calibri" pitchFamily="34" charset="0"/>
                <a:cs typeface="Calibri" pitchFamily="34" charset="-120"/>
              </a:rPr>
              <a:t>A) Perfect spelling and grammar</a:t>
            </a:r>
          </a:p>
          <a:p>
            <a:pPr algn="l">
              <a:lnSpc>
                <a:spcPct val="150000"/>
              </a:lnSpc>
            </a:pPr>
            <a:r>
              <a:rPr lang="en-GB" sz="1200" i="1" dirty="0">
                <a:solidFill>
                  <a:srgbClr val="2E7D5B"/>
                </a:solidFill>
                <a:latin typeface="Calibri" pitchFamily="34" charset="0"/>
                <a:cs typeface="Calibri" pitchFamily="34" charset="-120"/>
              </a:rPr>
              <a:t>B) A sense of urgency and threatened consequences</a:t>
            </a:r>
          </a:p>
          <a:p>
            <a:pPr algn="l">
              <a:lnSpc>
                <a:spcPct val="150000"/>
              </a:lnSpc>
            </a:pPr>
            <a:r>
              <a:rPr lang="en-GB" sz="1200" i="1" dirty="0">
                <a:solidFill>
                  <a:srgbClr val="2E7D5B"/>
                </a:solidFill>
                <a:latin typeface="Calibri" pitchFamily="34" charset="0"/>
                <a:cs typeface="Calibri" pitchFamily="34" charset="-120"/>
              </a:rPr>
              <a:t>C) Your name in the greeting</a:t>
            </a:r>
          </a:p>
          <a:p>
            <a:pPr algn="l">
              <a:lnSpc>
                <a:spcPct val="150000"/>
              </a:lnSpc>
            </a:pPr>
            <a:r>
              <a:rPr lang="en-GB" sz="1200" i="1" dirty="0">
                <a:solidFill>
                  <a:srgbClr val="2E7D5B"/>
                </a:solidFill>
                <a:latin typeface="Calibri" pitchFamily="34" charset="0"/>
                <a:cs typeface="Calibri" pitchFamily="34" charset="-120"/>
              </a:rPr>
              <a:t>D) A Gmail sender address</a:t>
            </a:r>
          </a:p>
          <a:p>
            <a:pPr algn="l">
              <a:lnSpc>
                <a:spcPct val="150000"/>
              </a:lnSpc>
            </a:pPr>
            <a:endParaRPr lang="en-GB" sz="1200" i="1" dirty="0">
              <a:solidFill>
                <a:srgbClr val="2E7D5B"/>
              </a:solidFill>
              <a:latin typeface="Calibri" pitchFamily="34" charset="0"/>
              <a:cs typeface="Calibri" pitchFamily="34" charset="-120"/>
            </a:endParaRPr>
          </a:p>
          <a:p>
            <a:pPr algn="l">
              <a:lnSpc>
                <a:spcPct val="150000"/>
              </a:lnSpc>
            </a:pPr>
            <a:r>
              <a:rPr lang="en-GB" sz="1200" i="1" dirty="0">
                <a:solidFill>
                  <a:srgbClr val="2E7D5B"/>
                </a:solidFill>
                <a:latin typeface="Calibri" pitchFamily="34" charset="0"/>
                <a:cs typeface="Calibri" pitchFamily="34" charset="-120"/>
              </a:rPr>
              <a:t>Answer: B) A sense of urgency and threatened consequences, not spelling mistakes, since AI now writes flawless phishing emails too.</a:t>
            </a:r>
          </a:p>
        </p:txBody>
      </p:sp>
      <p:sp>
        <p:nvSpPr>
          <p:cNvPr id="9" name="Text 7"/>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10" name="Text 8"/>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Quick Quiz: Questions 3 &amp; 4</a:t>
            </a:r>
            <a:endParaRPr lang="en-US" sz="2800" dirty="0"/>
          </a:p>
        </p:txBody>
      </p:sp>
      <p:sp>
        <p:nvSpPr>
          <p:cNvPr id="3" name="Shape 1"/>
          <p:cNvSpPr/>
          <p:nvPr/>
        </p:nvSpPr>
        <p:spPr>
          <a:xfrm>
            <a:off x="548640" y="1371600"/>
            <a:ext cx="11064240" cy="2194560"/>
          </a:xfrm>
          <a:prstGeom prst="roundRect">
            <a:avLst>
              <a:gd name="adj" fmla="val 3333"/>
            </a:avLst>
          </a:prstGeom>
          <a:solidFill>
            <a:srgbClr val="F3F5F8"/>
          </a:solidFill>
          <a:ln/>
        </p:spPr>
      </p:sp>
      <p:sp>
        <p:nvSpPr>
          <p:cNvPr id="4" name="Text 2"/>
          <p:cNvSpPr txBox="1"/>
          <p:nvPr/>
        </p:nvSpPr>
        <p:spPr>
          <a:xfrm>
            <a:off x="822960" y="1554480"/>
            <a:ext cx="10515600" cy="45720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Q3: What is “pretexting”?</a:t>
            </a:r>
            <a:endParaRPr lang="en-US" sz="1350" dirty="0"/>
          </a:p>
        </p:txBody>
      </p:sp>
      <p:sp>
        <p:nvSpPr>
          <p:cNvPr id="5" name="Text 3"/>
          <p:cNvSpPr txBox="1"/>
          <p:nvPr/>
        </p:nvSpPr>
        <p:spPr>
          <a:xfrm>
            <a:off x="822960" y="2103120"/>
            <a:ext cx="10515600" cy="822960"/>
          </a:xfrm>
          <a:prstGeom prst="rect">
            <a:avLst/>
          </a:prstGeom>
          <a:noFill/>
          <a:ln/>
        </p:spPr>
        <p:txBody>
          <a:bodyPr wrap="square" rtlCol="0" anchor="ctr"/>
          <a:lstStyle/>
          <a:p>
            <a:pPr marL="0" indent="0">
              <a:buNone/>
            </a:pPr>
            <a:r>
              <a:rPr lang="en-US" sz="1200" i="1" dirty="0">
                <a:solidFill>
                  <a:srgbClr val="2E7D5B"/>
                </a:solidFill>
                <a:latin typeface="Calibri" pitchFamily="34" charset="0"/>
                <a:ea typeface="Calibri" pitchFamily="34" charset="-122"/>
                <a:cs typeface="Calibri" pitchFamily="34" charset="-120"/>
              </a:rPr>
              <a:t>Answer: Creating a false identity or story to gain someone's trust,  for example, someone posing as IT support.</a:t>
            </a:r>
            <a:endParaRPr lang="en-US" sz="1200" dirty="0"/>
          </a:p>
        </p:txBody>
      </p:sp>
      <p:sp>
        <p:nvSpPr>
          <p:cNvPr id="6" name="Shape 4"/>
          <p:cNvSpPr/>
          <p:nvPr/>
        </p:nvSpPr>
        <p:spPr>
          <a:xfrm>
            <a:off x="548640" y="3794760"/>
            <a:ext cx="11064240" cy="2331720"/>
          </a:xfrm>
          <a:prstGeom prst="roundRect">
            <a:avLst>
              <a:gd name="adj" fmla="val 3137"/>
            </a:avLst>
          </a:prstGeom>
          <a:solidFill>
            <a:srgbClr val="F3F5F8"/>
          </a:solidFill>
          <a:ln/>
        </p:spPr>
      </p:sp>
      <p:sp>
        <p:nvSpPr>
          <p:cNvPr id="7" name="Text 5"/>
          <p:cNvSpPr txBox="1"/>
          <p:nvPr/>
        </p:nvSpPr>
        <p:spPr>
          <a:xfrm>
            <a:off x="822960" y="3977640"/>
            <a:ext cx="10515600" cy="82296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Q4: A colleague's real email account is compromised, and you receive a message from it urgently asking you to wire money to a “new vendor.” What is this called?</a:t>
            </a:r>
            <a:endParaRPr lang="en-US" sz="1350" dirty="0"/>
          </a:p>
        </p:txBody>
      </p:sp>
      <p:sp>
        <p:nvSpPr>
          <p:cNvPr id="8" name="Text 6"/>
          <p:cNvSpPr txBox="1"/>
          <p:nvPr/>
        </p:nvSpPr>
        <p:spPr>
          <a:xfrm>
            <a:off x="822960" y="4892040"/>
            <a:ext cx="10515600" cy="457200"/>
          </a:xfrm>
          <a:prstGeom prst="rect">
            <a:avLst/>
          </a:prstGeom>
          <a:noFill/>
          <a:ln/>
        </p:spPr>
        <p:txBody>
          <a:bodyPr wrap="square" rtlCol="0" anchor="ctr"/>
          <a:lstStyle/>
          <a:p>
            <a:pPr marL="0" indent="0">
              <a:buNone/>
            </a:pPr>
            <a:r>
              <a:rPr lang="en-US" sz="1200" i="1" dirty="0">
                <a:solidFill>
                  <a:srgbClr val="2E7D5B"/>
                </a:solidFill>
                <a:latin typeface="Calibri" pitchFamily="34" charset="0"/>
                <a:ea typeface="Calibri" pitchFamily="34" charset="-122"/>
                <a:cs typeface="Calibri" pitchFamily="34" charset="-120"/>
              </a:rPr>
              <a:t>Answer: Business Email Compromise (BEC).</a:t>
            </a:r>
            <a:endParaRPr lang="en-US" sz="1200" dirty="0"/>
          </a:p>
        </p:txBody>
      </p:sp>
      <p:sp>
        <p:nvSpPr>
          <p:cNvPr id="9" name="Text 7"/>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10" name="Text 8"/>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Quick Quiz: Questions 5 &amp; 6</a:t>
            </a:r>
            <a:endParaRPr lang="en-US" sz="2800" dirty="0"/>
          </a:p>
        </p:txBody>
      </p:sp>
      <p:sp>
        <p:nvSpPr>
          <p:cNvPr id="3" name="Shape 1"/>
          <p:cNvSpPr/>
          <p:nvPr/>
        </p:nvSpPr>
        <p:spPr>
          <a:xfrm>
            <a:off x="548640" y="1371600"/>
            <a:ext cx="11064240" cy="2103120"/>
          </a:xfrm>
          <a:prstGeom prst="roundRect">
            <a:avLst>
              <a:gd name="adj" fmla="val 3478"/>
            </a:avLst>
          </a:prstGeom>
          <a:solidFill>
            <a:srgbClr val="F3F5F8"/>
          </a:solidFill>
          <a:ln/>
        </p:spPr>
      </p:sp>
      <p:sp>
        <p:nvSpPr>
          <p:cNvPr id="4" name="Text 2"/>
          <p:cNvSpPr txBox="1"/>
          <p:nvPr/>
        </p:nvSpPr>
        <p:spPr>
          <a:xfrm>
            <a:off x="822960" y="1554480"/>
            <a:ext cx="10515600" cy="45720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Q5: True or False, a padlock icon and “https://” always mean a website is safe.</a:t>
            </a:r>
            <a:endParaRPr lang="en-US" sz="1350" dirty="0"/>
          </a:p>
        </p:txBody>
      </p:sp>
      <p:sp>
        <p:nvSpPr>
          <p:cNvPr id="5" name="Text 3"/>
          <p:cNvSpPr txBox="1"/>
          <p:nvPr/>
        </p:nvSpPr>
        <p:spPr>
          <a:xfrm>
            <a:off x="822960" y="2103120"/>
            <a:ext cx="10515600" cy="822960"/>
          </a:xfrm>
          <a:prstGeom prst="rect">
            <a:avLst/>
          </a:prstGeom>
          <a:noFill/>
          <a:ln/>
        </p:spPr>
        <p:txBody>
          <a:bodyPr wrap="square" rtlCol="0" anchor="ctr"/>
          <a:lstStyle/>
          <a:p>
            <a:pPr marL="0" indent="0">
              <a:buNone/>
            </a:pPr>
            <a:r>
              <a:rPr lang="en-US" sz="1200" i="1" dirty="0">
                <a:solidFill>
                  <a:srgbClr val="2E7D5B"/>
                </a:solidFill>
                <a:latin typeface="Calibri" pitchFamily="34" charset="0"/>
                <a:ea typeface="Calibri" pitchFamily="34" charset="-122"/>
                <a:cs typeface="Calibri" pitchFamily="34" charset="-120"/>
              </a:rPr>
              <a:t>Answer: False. HTTPS only means the connection is encrypted, it says nothing about whether the site itself is trustworthy.</a:t>
            </a:r>
            <a:endParaRPr lang="en-US" sz="1200" dirty="0"/>
          </a:p>
        </p:txBody>
      </p:sp>
      <p:sp>
        <p:nvSpPr>
          <p:cNvPr id="6" name="Shape 4"/>
          <p:cNvSpPr/>
          <p:nvPr/>
        </p:nvSpPr>
        <p:spPr>
          <a:xfrm>
            <a:off x="548640" y="3703320"/>
            <a:ext cx="11064240" cy="2423160"/>
          </a:xfrm>
          <a:prstGeom prst="roundRect">
            <a:avLst>
              <a:gd name="adj" fmla="val 3019"/>
            </a:avLst>
          </a:prstGeom>
          <a:solidFill>
            <a:srgbClr val="F3F5F8"/>
          </a:solidFill>
          <a:ln/>
        </p:spPr>
      </p:sp>
      <p:sp>
        <p:nvSpPr>
          <p:cNvPr id="7" name="Text 5"/>
          <p:cNvSpPr txBox="1"/>
          <p:nvPr/>
        </p:nvSpPr>
        <p:spPr>
          <a:xfrm>
            <a:off x="822960" y="3886200"/>
            <a:ext cx="10515600" cy="685800"/>
          </a:xfrm>
          <a:prstGeom prst="rect">
            <a:avLst/>
          </a:prstGeom>
          <a:noFill/>
          <a:ln/>
        </p:spPr>
        <p:txBody>
          <a:bodyPr wrap="square" rtlCol="0" anchor="ctr"/>
          <a:lstStyle/>
          <a:p>
            <a:pPr marL="0" indent="0">
              <a:buNone/>
            </a:pPr>
            <a:r>
              <a:rPr lang="en-US" sz="1350" b="1" dirty="0">
                <a:solidFill>
                  <a:srgbClr val="17263B"/>
                </a:solidFill>
                <a:latin typeface="Calibri" pitchFamily="34" charset="0"/>
                <a:ea typeface="Calibri" pitchFamily="34" charset="-122"/>
                <a:cs typeface="Calibri" pitchFamily="34" charset="-120"/>
              </a:rPr>
              <a:t>Q6: You think you just entered your banking password on a fake website. What's the right first step?</a:t>
            </a:r>
            <a:endParaRPr lang="en-US" sz="1350" dirty="0"/>
          </a:p>
        </p:txBody>
      </p:sp>
      <p:sp>
        <p:nvSpPr>
          <p:cNvPr id="8" name="Text 6"/>
          <p:cNvSpPr txBox="1"/>
          <p:nvPr/>
        </p:nvSpPr>
        <p:spPr>
          <a:xfrm>
            <a:off x="822960" y="4663440"/>
            <a:ext cx="10515600" cy="822960"/>
          </a:xfrm>
          <a:prstGeom prst="rect">
            <a:avLst/>
          </a:prstGeom>
          <a:noFill/>
          <a:ln/>
        </p:spPr>
        <p:txBody>
          <a:bodyPr wrap="square" rtlCol="0" anchor="ctr"/>
          <a:lstStyle/>
          <a:p>
            <a:pPr marL="0" indent="0">
              <a:buNone/>
            </a:pPr>
            <a:r>
              <a:rPr lang="en-US" sz="1200" i="1" dirty="0">
                <a:solidFill>
                  <a:srgbClr val="2E7D5B"/>
                </a:solidFill>
                <a:latin typeface="Calibri" pitchFamily="34" charset="0"/>
                <a:ea typeface="Calibri" pitchFamily="34" charset="-122"/>
                <a:cs typeface="Calibri" pitchFamily="34" charset="-120"/>
              </a:rPr>
              <a:t>Answer: Change your passwords immediately from a different, secure device, then contact your bank and report the incident.</a:t>
            </a:r>
            <a:endParaRPr lang="en-US" sz="1200" dirty="0"/>
          </a:p>
        </p:txBody>
      </p:sp>
      <p:sp>
        <p:nvSpPr>
          <p:cNvPr id="9" name="Text 7"/>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10" name="Text 8"/>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263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Key Takeaways</a:t>
            </a:r>
            <a:endParaRPr lang="en-US" sz="2800" dirty="0"/>
          </a:p>
        </p:txBody>
      </p:sp>
      <p:sp>
        <p:nvSpPr>
          <p:cNvPr id="3" name="Shape 1"/>
          <p:cNvSpPr/>
          <p:nvPr/>
        </p:nvSpPr>
        <p:spPr>
          <a:xfrm>
            <a:off x="731520" y="1691640"/>
            <a:ext cx="182880" cy="182880"/>
          </a:xfrm>
          <a:prstGeom prst="ellipse">
            <a:avLst/>
          </a:prstGeom>
          <a:solidFill>
            <a:srgbClr val="C98A2C"/>
          </a:solidFill>
          <a:ln/>
        </p:spPr>
      </p:sp>
      <p:sp>
        <p:nvSpPr>
          <p:cNvPr id="4" name="Text 2"/>
          <p:cNvSpPr txBox="1"/>
          <p:nvPr/>
        </p:nvSpPr>
        <p:spPr>
          <a:xfrm>
            <a:off x="1143000" y="1572768"/>
            <a:ext cx="9966960" cy="594360"/>
          </a:xfrm>
          <a:prstGeom prst="rect">
            <a:avLst/>
          </a:prstGeom>
          <a:noFill/>
          <a:ln/>
        </p:spPr>
        <p:txBody>
          <a:bodyPr wrap="square" rtlCol="0" anchor="ctr"/>
          <a:lstStyle/>
          <a:p>
            <a:pPr marL="0" indent="0">
              <a:buNone/>
            </a:pPr>
            <a:r>
              <a:rPr lang="en-US" sz="1500" dirty="0">
                <a:solidFill>
                  <a:srgbClr val="F3F5F8"/>
                </a:solidFill>
                <a:latin typeface="Calibri" pitchFamily="34" charset="0"/>
                <a:ea typeface="Calibri" pitchFamily="34" charset="-122"/>
                <a:cs typeface="Calibri" pitchFamily="34" charset="-120"/>
              </a:rPr>
              <a:t>Phishing succeeds by exploiting emotion, urgency, fear, trust, not by hacking software</a:t>
            </a:r>
            <a:endParaRPr lang="en-US" sz="1500" dirty="0"/>
          </a:p>
        </p:txBody>
      </p:sp>
      <p:sp>
        <p:nvSpPr>
          <p:cNvPr id="5" name="Shape 3"/>
          <p:cNvSpPr/>
          <p:nvPr/>
        </p:nvSpPr>
        <p:spPr>
          <a:xfrm>
            <a:off x="731520" y="2560320"/>
            <a:ext cx="182880" cy="182880"/>
          </a:xfrm>
          <a:prstGeom prst="ellipse">
            <a:avLst/>
          </a:prstGeom>
          <a:solidFill>
            <a:srgbClr val="C98A2C"/>
          </a:solidFill>
          <a:ln/>
        </p:spPr>
      </p:sp>
      <p:sp>
        <p:nvSpPr>
          <p:cNvPr id="6" name="Text 4"/>
          <p:cNvSpPr txBox="1"/>
          <p:nvPr/>
        </p:nvSpPr>
        <p:spPr>
          <a:xfrm>
            <a:off x="1143000" y="2441448"/>
            <a:ext cx="9966960" cy="594360"/>
          </a:xfrm>
          <a:prstGeom prst="rect">
            <a:avLst/>
          </a:prstGeom>
          <a:noFill/>
          <a:ln/>
        </p:spPr>
        <p:txBody>
          <a:bodyPr wrap="square" rtlCol="0" anchor="ctr"/>
          <a:lstStyle/>
          <a:p>
            <a:pPr marL="0" indent="0">
              <a:buNone/>
            </a:pPr>
            <a:r>
              <a:rPr lang="en-US" sz="1500" dirty="0">
                <a:solidFill>
                  <a:srgbClr val="F3F5F8"/>
                </a:solidFill>
                <a:latin typeface="Calibri" pitchFamily="34" charset="0"/>
                <a:ea typeface="Calibri" pitchFamily="34" charset="-122"/>
                <a:cs typeface="Calibri" pitchFamily="34" charset="-120"/>
              </a:rPr>
              <a:t>AI has made old advice like “check for bad grammar” unreliable</a:t>
            </a:r>
            <a:endParaRPr lang="en-US" sz="1500" dirty="0"/>
          </a:p>
        </p:txBody>
      </p:sp>
      <p:sp>
        <p:nvSpPr>
          <p:cNvPr id="7" name="Shape 5"/>
          <p:cNvSpPr/>
          <p:nvPr/>
        </p:nvSpPr>
        <p:spPr>
          <a:xfrm>
            <a:off x="731520" y="3429000"/>
            <a:ext cx="182880" cy="182880"/>
          </a:xfrm>
          <a:prstGeom prst="ellipse">
            <a:avLst/>
          </a:prstGeom>
          <a:solidFill>
            <a:srgbClr val="C98A2C"/>
          </a:solidFill>
          <a:ln/>
        </p:spPr>
      </p:sp>
      <p:sp>
        <p:nvSpPr>
          <p:cNvPr id="8" name="Text 6"/>
          <p:cNvSpPr txBox="1"/>
          <p:nvPr/>
        </p:nvSpPr>
        <p:spPr>
          <a:xfrm>
            <a:off x="1143000" y="3310128"/>
            <a:ext cx="9966960" cy="594360"/>
          </a:xfrm>
          <a:prstGeom prst="rect">
            <a:avLst/>
          </a:prstGeom>
          <a:noFill/>
          <a:ln/>
        </p:spPr>
        <p:txBody>
          <a:bodyPr wrap="square" rtlCol="0" anchor="ctr"/>
          <a:lstStyle/>
          <a:p>
            <a:pPr marL="0" indent="0">
              <a:buNone/>
            </a:pPr>
            <a:r>
              <a:rPr lang="en-US" sz="1500" dirty="0">
                <a:solidFill>
                  <a:srgbClr val="F3F5F8"/>
                </a:solidFill>
                <a:latin typeface="Calibri" pitchFamily="34" charset="0"/>
                <a:ea typeface="Calibri" pitchFamily="34" charset="-122"/>
                <a:cs typeface="Calibri" pitchFamily="34" charset="-120"/>
              </a:rPr>
              <a:t>Always verify requests through a separate, trusted channel, never the contact info in the message itself</a:t>
            </a:r>
            <a:endParaRPr lang="en-US" sz="1500" dirty="0"/>
          </a:p>
        </p:txBody>
      </p:sp>
      <p:sp>
        <p:nvSpPr>
          <p:cNvPr id="9" name="Shape 7"/>
          <p:cNvSpPr/>
          <p:nvPr/>
        </p:nvSpPr>
        <p:spPr>
          <a:xfrm>
            <a:off x="731520" y="4297680"/>
            <a:ext cx="182880" cy="182880"/>
          </a:xfrm>
          <a:prstGeom prst="ellipse">
            <a:avLst/>
          </a:prstGeom>
          <a:solidFill>
            <a:srgbClr val="C98A2C"/>
          </a:solidFill>
          <a:ln/>
        </p:spPr>
      </p:sp>
      <p:sp>
        <p:nvSpPr>
          <p:cNvPr id="10" name="Text 8"/>
          <p:cNvSpPr txBox="1"/>
          <p:nvPr/>
        </p:nvSpPr>
        <p:spPr>
          <a:xfrm>
            <a:off x="1143000" y="4178808"/>
            <a:ext cx="9966960" cy="594360"/>
          </a:xfrm>
          <a:prstGeom prst="rect">
            <a:avLst/>
          </a:prstGeom>
          <a:noFill/>
          <a:ln/>
        </p:spPr>
        <p:txBody>
          <a:bodyPr wrap="square" rtlCol="0" anchor="ctr"/>
          <a:lstStyle/>
          <a:p>
            <a:pPr marL="0" indent="0">
              <a:buNone/>
            </a:pPr>
            <a:r>
              <a:rPr lang="en-US" sz="1500" dirty="0">
                <a:solidFill>
                  <a:srgbClr val="F3F5F8"/>
                </a:solidFill>
                <a:latin typeface="Calibri" pitchFamily="34" charset="0"/>
                <a:ea typeface="Calibri" pitchFamily="34" charset="-122"/>
                <a:cs typeface="Calibri" pitchFamily="34" charset="-120"/>
              </a:rPr>
              <a:t>No legitimate organization will ever ask for your password or one-time passcode directly</a:t>
            </a:r>
            <a:endParaRPr lang="en-US" sz="1500" dirty="0"/>
          </a:p>
        </p:txBody>
      </p:sp>
      <p:sp>
        <p:nvSpPr>
          <p:cNvPr id="11" name="Shape 9"/>
          <p:cNvSpPr/>
          <p:nvPr/>
        </p:nvSpPr>
        <p:spPr>
          <a:xfrm>
            <a:off x="731520" y="5166360"/>
            <a:ext cx="182880" cy="182880"/>
          </a:xfrm>
          <a:prstGeom prst="ellipse">
            <a:avLst/>
          </a:prstGeom>
          <a:solidFill>
            <a:srgbClr val="C98A2C"/>
          </a:solidFill>
          <a:ln/>
        </p:spPr>
      </p:sp>
      <p:sp>
        <p:nvSpPr>
          <p:cNvPr id="12" name="Text 10"/>
          <p:cNvSpPr txBox="1"/>
          <p:nvPr/>
        </p:nvSpPr>
        <p:spPr>
          <a:xfrm>
            <a:off x="1143000" y="5047488"/>
            <a:ext cx="9966960" cy="594360"/>
          </a:xfrm>
          <a:prstGeom prst="rect">
            <a:avLst/>
          </a:prstGeom>
          <a:noFill/>
          <a:ln/>
        </p:spPr>
        <p:txBody>
          <a:bodyPr wrap="square" rtlCol="0" anchor="ctr"/>
          <a:lstStyle/>
          <a:p>
            <a:pPr marL="0" indent="0">
              <a:buNone/>
            </a:pPr>
            <a:r>
              <a:rPr lang="en-US" sz="1500" dirty="0">
                <a:solidFill>
                  <a:srgbClr val="F3F5F8"/>
                </a:solidFill>
                <a:latin typeface="Calibri" pitchFamily="34" charset="0"/>
                <a:ea typeface="Calibri" pitchFamily="34" charset="-122"/>
                <a:cs typeface="Calibri" pitchFamily="34" charset="-120"/>
              </a:rPr>
              <a:t>Even the largest, best-resourced companies have fallen for phishing, everyone is a potential target</a:t>
            </a:r>
            <a:endParaRPr lang="en-US" sz="1500" dirty="0"/>
          </a:p>
        </p:txBody>
      </p:sp>
      <p:sp>
        <p:nvSpPr>
          <p:cNvPr id="13" name="Text 11"/>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14" name="Text 12"/>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2800" b="1" dirty="0">
                <a:solidFill>
                  <a:srgbClr val="17263B"/>
                </a:solidFill>
                <a:latin typeface="Georgia" pitchFamily="34" charset="0"/>
                <a:ea typeface="Georgia" pitchFamily="34" charset="-122"/>
                <a:cs typeface="Georgia" pitchFamily="34" charset="-120"/>
              </a:rPr>
              <a:t>References &amp; Sources</a:t>
            </a:r>
            <a:endParaRPr lang="en-US" sz="2800" dirty="0"/>
          </a:p>
        </p:txBody>
      </p:sp>
      <p:sp>
        <p:nvSpPr>
          <p:cNvPr id="3" name="Shape 1"/>
          <p:cNvSpPr/>
          <p:nvPr/>
        </p:nvSpPr>
        <p:spPr>
          <a:xfrm>
            <a:off x="640080" y="1527048"/>
            <a:ext cx="109728" cy="109728"/>
          </a:xfrm>
          <a:prstGeom prst="ellipse">
            <a:avLst/>
          </a:prstGeom>
          <a:solidFill>
            <a:srgbClr val="17263B"/>
          </a:solidFill>
          <a:ln/>
        </p:spPr>
      </p:sp>
      <p:sp>
        <p:nvSpPr>
          <p:cNvPr id="4" name="Text 2"/>
          <p:cNvSpPr txBox="1"/>
          <p:nvPr/>
        </p:nvSpPr>
        <p:spPr>
          <a:xfrm>
            <a:off x="914400" y="1371600"/>
            <a:ext cx="10515600" cy="502920"/>
          </a:xfrm>
          <a:prstGeom prst="rect">
            <a:avLst/>
          </a:prstGeom>
          <a:noFill/>
          <a:ln/>
        </p:spPr>
        <p:txBody>
          <a:bodyPr wrap="square" rtlCol="0" anchor="ctr"/>
          <a:lstStyle/>
          <a:p>
            <a:pPr algn="l"/>
            <a:r>
              <a:rPr lang="en-GB" sz="1400" b="0" i="0" u="none" strike="noStrike" dirty="0">
                <a:effectLst/>
                <a:latin typeface="quote-cjk-patch"/>
              </a:rPr>
              <a:t>FBI </a:t>
            </a:r>
            <a:r>
              <a:rPr lang="en-GB" sz="1400" dirty="0">
                <a:latin typeface="Calibri" pitchFamily="34" charset="0"/>
                <a:cs typeface="Calibri" pitchFamily="34" charset="-120"/>
              </a:rPr>
              <a:t>Internet</a:t>
            </a:r>
            <a:r>
              <a:rPr lang="en-GB" sz="1400" b="0" i="0" u="none" strike="noStrike" dirty="0">
                <a:effectLst/>
                <a:latin typeface="quote-cjk-patch"/>
              </a:rPr>
              <a:t> Crime Complaint </a:t>
            </a:r>
            <a:r>
              <a:rPr lang="en-GB" sz="1400" b="0" i="0" u="none" strike="noStrike" dirty="0" err="1">
                <a:effectLst/>
                <a:latin typeface="quote-cjk-patch"/>
              </a:rPr>
              <a:t>Center</a:t>
            </a:r>
            <a:r>
              <a:rPr lang="en-GB" sz="1400" b="0" i="0" u="none" strike="noStrike" dirty="0">
                <a:effectLst/>
                <a:latin typeface="quote-cjk-patch"/>
              </a:rPr>
              <a:t> (IC3). </a:t>
            </a:r>
            <a:r>
              <a:rPr lang="en-GB" sz="1400" b="0" i="1" u="none" strike="noStrike" dirty="0">
                <a:effectLst/>
                <a:latin typeface="quote-cjk-patch"/>
              </a:rPr>
              <a:t>2024 Internet Crime Report</a:t>
            </a:r>
            <a:r>
              <a:rPr lang="en-GB" sz="1400" b="0" i="0" u="none" strike="noStrike" dirty="0">
                <a:effectLst/>
                <a:latin typeface="quote-cjk-patch"/>
              </a:rPr>
              <a:t>. </a:t>
            </a:r>
            <a:r>
              <a:rPr lang="en-GB" sz="1400" b="0" i="0" u="none" strike="noStrike" dirty="0">
                <a:effectLst/>
                <a:latin typeface="quote-cjk-patch"/>
                <a:hlinkClick r:id="rId3">
                  <a:extLst>
                    <a:ext uri="{A12FA001-AC4F-418D-AE19-62706E023703}">
                      <ahyp:hlinkClr xmlns:ahyp="http://schemas.microsoft.com/office/drawing/2018/hyperlinkcolor" val="tx"/>
                    </a:ext>
                  </a:extLst>
                </a:hlinkClick>
              </a:rPr>
              <a:t>ic3.gov</a:t>
            </a:r>
            <a:endParaRPr lang="en-GB" sz="1400" b="0" i="0" u="none" strike="noStrike" dirty="0">
              <a:effectLst/>
              <a:latin typeface="quote-cjk-patch"/>
            </a:endParaRPr>
          </a:p>
        </p:txBody>
      </p:sp>
      <p:sp>
        <p:nvSpPr>
          <p:cNvPr id="5" name="Shape 3"/>
          <p:cNvSpPr/>
          <p:nvPr/>
        </p:nvSpPr>
        <p:spPr>
          <a:xfrm>
            <a:off x="640080" y="2148840"/>
            <a:ext cx="109728" cy="109728"/>
          </a:xfrm>
          <a:prstGeom prst="ellipse">
            <a:avLst/>
          </a:prstGeom>
          <a:solidFill>
            <a:srgbClr val="17263B"/>
          </a:solidFill>
          <a:ln/>
        </p:spPr>
      </p:sp>
      <p:sp>
        <p:nvSpPr>
          <p:cNvPr id="6" name="Text 4"/>
          <p:cNvSpPr txBox="1"/>
          <p:nvPr/>
        </p:nvSpPr>
        <p:spPr>
          <a:xfrm>
            <a:off x="914400" y="1993392"/>
            <a:ext cx="10515600" cy="502920"/>
          </a:xfrm>
          <a:prstGeom prst="rect">
            <a:avLst/>
          </a:prstGeom>
          <a:noFill/>
          <a:ln/>
        </p:spPr>
        <p:txBody>
          <a:bodyPr wrap="square" rtlCol="0" anchor="ctr"/>
          <a:lstStyle/>
          <a:p>
            <a:pPr algn="l"/>
            <a:r>
              <a:rPr lang="en-GB" sz="1400" b="0" i="0" u="none" strike="noStrike" dirty="0">
                <a:effectLst/>
                <a:latin typeface="quote-cjk-patch"/>
              </a:rPr>
              <a:t>Anti-Phishing Working Group (APWG). </a:t>
            </a:r>
            <a:r>
              <a:rPr lang="en-GB" sz="1400" b="0" i="1" u="none" strike="noStrike" dirty="0">
                <a:effectLst/>
                <a:latin typeface="quote-cjk-patch"/>
              </a:rPr>
              <a:t>Phishing Activity Trends Reports, Q1–Q2 2025</a:t>
            </a:r>
            <a:r>
              <a:rPr lang="en-GB" sz="1400" b="0" i="0" u="none" strike="noStrike" dirty="0">
                <a:effectLst/>
                <a:latin typeface="quote-cjk-patch"/>
              </a:rPr>
              <a:t>. </a:t>
            </a:r>
            <a:r>
              <a:rPr lang="en-GB" sz="1400" b="0" i="0" u="none" strike="noStrike" dirty="0">
                <a:effectLst/>
                <a:latin typeface="quote-cjk-patch"/>
                <a:hlinkClick r:id="rId4">
                  <a:extLst>
                    <a:ext uri="{A12FA001-AC4F-418D-AE19-62706E023703}">
                      <ahyp:hlinkClr xmlns:ahyp="http://schemas.microsoft.com/office/drawing/2018/hyperlinkcolor" val="tx"/>
                    </a:ext>
                  </a:extLst>
                </a:hlinkClick>
              </a:rPr>
              <a:t>apwg.org</a:t>
            </a:r>
            <a:endParaRPr lang="en-GB" sz="1400" b="0" i="0" u="none" strike="noStrike" dirty="0">
              <a:effectLst/>
              <a:latin typeface="quote-cjk-patch"/>
            </a:endParaRPr>
          </a:p>
        </p:txBody>
      </p:sp>
      <p:sp>
        <p:nvSpPr>
          <p:cNvPr id="7" name="Shape 5"/>
          <p:cNvSpPr/>
          <p:nvPr/>
        </p:nvSpPr>
        <p:spPr>
          <a:xfrm>
            <a:off x="640080" y="2770632"/>
            <a:ext cx="109728" cy="109728"/>
          </a:xfrm>
          <a:prstGeom prst="ellipse">
            <a:avLst/>
          </a:prstGeom>
          <a:solidFill>
            <a:srgbClr val="17263B"/>
          </a:solidFill>
          <a:ln/>
        </p:spPr>
      </p:sp>
      <p:sp>
        <p:nvSpPr>
          <p:cNvPr id="8" name="Text 6"/>
          <p:cNvSpPr txBox="1"/>
          <p:nvPr/>
        </p:nvSpPr>
        <p:spPr>
          <a:xfrm>
            <a:off x="914400" y="2615184"/>
            <a:ext cx="10515600" cy="502920"/>
          </a:xfrm>
          <a:prstGeom prst="rect">
            <a:avLst/>
          </a:prstGeom>
          <a:noFill/>
          <a:ln/>
        </p:spPr>
        <p:txBody>
          <a:bodyPr wrap="square" rtlCol="0" anchor="ctr"/>
          <a:lstStyle/>
          <a:p>
            <a:pPr algn="l"/>
            <a:r>
              <a:rPr lang="en-GB" sz="1400" b="0" i="0" u="none" strike="noStrike" dirty="0">
                <a:effectLst/>
                <a:latin typeface="quote-cjk-patch"/>
              </a:rPr>
              <a:t>Microsoft. </a:t>
            </a:r>
            <a:r>
              <a:rPr lang="en-GB" sz="1400" b="0" i="1" u="none" strike="noStrike" dirty="0">
                <a:effectLst/>
                <a:latin typeface="quote-cjk-patch"/>
              </a:rPr>
              <a:t>Digital </a:t>
            </a:r>
            <a:r>
              <a:rPr lang="en-GB" sz="1400" b="0" i="1" u="none" strike="noStrike" dirty="0" err="1">
                <a:effectLst/>
                <a:latin typeface="quote-cjk-patch"/>
              </a:rPr>
              <a:t>Defense</a:t>
            </a:r>
            <a:r>
              <a:rPr lang="en-GB" sz="1400" b="0" i="1" u="none" strike="noStrike" dirty="0">
                <a:effectLst/>
                <a:latin typeface="quote-cjk-patch"/>
              </a:rPr>
              <a:t> Report 2025</a:t>
            </a:r>
            <a:r>
              <a:rPr lang="en-GB" sz="1400" b="0" i="0" u="none" strike="noStrike" dirty="0">
                <a:effectLst/>
                <a:latin typeface="quote-cjk-patch"/>
              </a:rPr>
              <a:t>. </a:t>
            </a:r>
            <a:r>
              <a:rPr lang="en-GB" sz="1400" i="0" strike="noStrike" dirty="0">
                <a:effectLst/>
                <a:latin typeface="quote-cjk-patch"/>
                <a:hlinkClick r:id="rId5">
                  <a:extLst>
                    <a:ext uri="{A12FA001-AC4F-418D-AE19-62706E023703}">
                      <ahyp:hlinkClr xmlns:ahyp="http://schemas.microsoft.com/office/drawing/2018/hyperlinkcolor" val="tx"/>
                    </a:ext>
                  </a:extLst>
                </a:hlinkClick>
              </a:rPr>
              <a:t>microsoft.com/security</a:t>
            </a:r>
            <a:endParaRPr lang="en-GB" sz="1400" i="0" strike="noStrike" dirty="0">
              <a:effectLst/>
              <a:latin typeface="quote-cjk-patch"/>
            </a:endParaRPr>
          </a:p>
        </p:txBody>
      </p:sp>
      <p:sp>
        <p:nvSpPr>
          <p:cNvPr id="9" name="Shape 7"/>
          <p:cNvSpPr/>
          <p:nvPr/>
        </p:nvSpPr>
        <p:spPr>
          <a:xfrm>
            <a:off x="640080" y="3392424"/>
            <a:ext cx="109728" cy="109728"/>
          </a:xfrm>
          <a:prstGeom prst="ellipse">
            <a:avLst/>
          </a:prstGeom>
          <a:solidFill>
            <a:srgbClr val="17263B"/>
          </a:solidFill>
          <a:ln/>
        </p:spPr>
      </p:sp>
      <p:sp>
        <p:nvSpPr>
          <p:cNvPr id="10" name="Text 8"/>
          <p:cNvSpPr txBox="1"/>
          <p:nvPr/>
        </p:nvSpPr>
        <p:spPr>
          <a:xfrm>
            <a:off x="914400" y="3236976"/>
            <a:ext cx="10515600" cy="502920"/>
          </a:xfrm>
          <a:prstGeom prst="rect">
            <a:avLst/>
          </a:prstGeom>
          <a:noFill/>
          <a:ln/>
        </p:spPr>
        <p:txBody>
          <a:bodyPr wrap="square" rtlCol="0" anchor="ctr"/>
          <a:lstStyle/>
          <a:p>
            <a:pPr algn="l"/>
            <a:r>
              <a:rPr lang="en-GB" sz="1400" b="0" i="0" u="none" strike="noStrike" dirty="0">
                <a:effectLst/>
                <a:latin typeface="quote-cjk-patch"/>
              </a:rPr>
              <a:t>INTERPOL. </a:t>
            </a:r>
            <a:r>
              <a:rPr lang="en-GB" sz="1400" b="0" i="1" u="none" strike="noStrike" dirty="0">
                <a:effectLst/>
                <a:latin typeface="quote-cjk-patch"/>
              </a:rPr>
              <a:t>Press statement on 2016 Nigerian BEC network arrest</a:t>
            </a:r>
            <a:r>
              <a:rPr lang="en-GB" sz="1400" b="0" i="0" u="none" strike="noStrike" dirty="0">
                <a:effectLst/>
                <a:latin typeface="quote-cjk-patch"/>
              </a:rPr>
              <a:t>. </a:t>
            </a:r>
            <a:r>
              <a:rPr lang="en-GB" sz="1400" b="0" i="0" u="none" strike="noStrike" dirty="0">
                <a:effectLst/>
                <a:latin typeface="quote-cjk-patch"/>
                <a:hlinkClick r:id="rId6">
                  <a:extLst>
                    <a:ext uri="{A12FA001-AC4F-418D-AE19-62706E023703}">
                      <ahyp:hlinkClr xmlns:ahyp="http://schemas.microsoft.com/office/drawing/2018/hyperlinkcolor" val="tx"/>
                    </a:ext>
                  </a:extLst>
                </a:hlinkClick>
              </a:rPr>
              <a:t>interpol.int</a:t>
            </a:r>
            <a:endParaRPr lang="en-GB" sz="1400" b="0" i="0" u="none" strike="noStrike" dirty="0">
              <a:effectLst/>
              <a:latin typeface="quote-cjk-patch"/>
            </a:endParaRPr>
          </a:p>
        </p:txBody>
      </p:sp>
      <p:sp>
        <p:nvSpPr>
          <p:cNvPr id="11" name="Shape 9"/>
          <p:cNvSpPr/>
          <p:nvPr/>
        </p:nvSpPr>
        <p:spPr>
          <a:xfrm>
            <a:off x="640080" y="4014216"/>
            <a:ext cx="109728" cy="109728"/>
          </a:xfrm>
          <a:prstGeom prst="ellipse">
            <a:avLst/>
          </a:prstGeom>
          <a:solidFill>
            <a:srgbClr val="17263B"/>
          </a:solidFill>
          <a:ln/>
        </p:spPr>
      </p:sp>
      <p:sp>
        <p:nvSpPr>
          <p:cNvPr id="12" name="Text 10"/>
          <p:cNvSpPr txBox="1"/>
          <p:nvPr/>
        </p:nvSpPr>
        <p:spPr>
          <a:xfrm>
            <a:off x="914400" y="3858768"/>
            <a:ext cx="10515600" cy="502920"/>
          </a:xfrm>
          <a:prstGeom prst="rect">
            <a:avLst/>
          </a:prstGeom>
          <a:noFill/>
          <a:ln/>
        </p:spPr>
        <p:txBody>
          <a:bodyPr wrap="square" rtlCol="0" anchor="ctr"/>
          <a:lstStyle/>
          <a:p>
            <a:pPr algn="l"/>
            <a:r>
              <a:rPr lang="en-GB" sz="1400" b="0" i="0" u="none" strike="noStrike" dirty="0">
                <a:effectLst/>
                <a:latin typeface="quote-cjk-patch"/>
              </a:rPr>
              <a:t>U.S. Department of Justice; NBC News; CNBC. </a:t>
            </a:r>
            <a:r>
              <a:rPr lang="en-GB" sz="1400" b="0" i="1" u="none" strike="noStrike" dirty="0" err="1">
                <a:effectLst/>
                <a:latin typeface="quote-cjk-patch"/>
              </a:rPr>
              <a:t>Rimasauskas</a:t>
            </a:r>
            <a:r>
              <a:rPr lang="en-GB" sz="1400" b="0" i="1" u="none" strike="noStrike" dirty="0">
                <a:effectLst/>
                <a:latin typeface="quote-cjk-patch"/>
              </a:rPr>
              <a:t> wire fraud case reporting (2017–2019)</a:t>
            </a:r>
            <a:r>
              <a:rPr lang="en-GB" sz="1400" b="0" i="0" u="none" strike="noStrike" dirty="0">
                <a:effectLst/>
                <a:latin typeface="quote-cjk-patch"/>
              </a:rPr>
              <a:t>.</a:t>
            </a:r>
          </a:p>
        </p:txBody>
      </p:sp>
      <p:sp>
        <p:nvSpPr>
          <p:cNvPr id="13" name="Shape 11"/>
          <p:cNvSpPr/>
          <p:nvPr/>
        </p:nvSpPr>
        <p:spPr>
          <a:xfrm>
            <a:off x="640080" y="4636008"/>
            <a:ext cx="109728" cy="109728"/>
          </a:xfrm>
          <a:prstGeom prst="ellipse">
            <a:avLst/>
          </a:prstGeom>
          <a:solidFill>
            <a:srgbClr val="17263B"/>
          </a:solidFill>
          <a:ln/>
        </p:spPr>
      </p:sp>
      <p:sp>
        <p:nvSpPr>
          <p:cNvPr id="14" name="Text 12"/>
          <p:cNvSpPr txBox="1"/>
          <p:nvPr/>
        </p:nvSpPr>
        <p:spPr>
          <a:xfrm>
            <a:off x="914400" y="4480560"/>
            <a:ext cx="10515600" cy="502920"/>
          </a:xfrm>
          <a:prstGeom prst="rect">
            <a:avLst/>
          </a:prstGeom>
          <a:noFill/>
          <a:ln/>
        </p:spPr>
        <p:txBody>
          <a:bodyPr wrap="square" rtlCol="0" anchor="ctr"/>
          <a:lstStyle/>
          <a:p>
            <a:pPr algn="l"/>
            <a:r>
              <a:rPr lang="en-GB" sz="1400" b="0" i="0" u="none" strike="noStrike" dirty="0">
                <a:effectLst/>
                <a:latin typeface="quote-cjk-patch"/>
              </a:rPr>
              <a:t>NITDA (Nigeria). </a:t>
            </a:r>
            <a:r>
              <a:rPr lang="en-GB" sz="1400" b="0" i="1" u="none" strike="noStrike" dirty="0" err="1">
                <a:effectLst/>
                <a:latin typeface="quote-cjk-patch"/>
              </a:rPr>
              <a:t>DeepLoad</a:t>
            </a:r>
            <a:r>
              <a:rPr lang="en-GB" sz="1400" b="0" i="1" u="none" strike="noStrike" dirty="0">
                <a:effectLst/>
                <a:latin typeface="quote-cjk-patch"/>
              </a:rPr>
              <a:t> malware advisory</a:t>
            </a:r>
            <a:r>
              <a:rPr lang="en-GB" sz="1400" b="0" i="0" u="none" strike="noStrike" dirty="0">
                <a:effectLst/>
                <a:latin typeface="quote-cjk-patch"/>
              </a:rPr>
              <a:t>. Via Premium Times Nigeria.</a:t>
            </a:r>
          </a:p>
        </p:txBody>
      </p:sp>
      <p:sp>
        <p:nvSpPr>
          <p:cNvPr id="15" name="Text 13"/>
          <p:cNvSpPr txBox="1"/>
          <p:nvPr/>
        </p:nvSpPr>
        <p:spPr>
          <a:xfrm>
            <a:off x="548640" y="5760720"/>
            <a:ext cx="10972800" cy="457200"/>
          </a:xfrm>
          <a:prstGeom prst="rect">
            <a:avLst/>
          </a:prstGeom>
          <a:noFill/>
          <a:ln/>
        </p:spPr>
        <p:txBody>
          <a:bodyPr wrap="square" rtlCol="0" anchor="ctr"/>
          <a:lstStyle/>
          <a:p>
            <a:pPr marL="0" indent="0">
              <a:buNone/>
            </a:pPr>
            <a:r>
              <a:rPr lang="en-US" sz="1050" i="1" dirty="0">
                <a:solidFill>
                  <a:srgbClr val="8A97A6"/>
                </a:solidFill>
                <a:latin typeface="Calibri" pitchFamily="34" charset="0"/>
                <a:ea typeface="Calibri" pitchFamily="34" charset="-122"/>
                <a:cs typeface="Calibri" pitchFamily="34" charset="-120"/>
              </a:rPr>
              <a:t>Every statistic and case in this training was checked against the primary source listed above before inclusion.</a:t>
            </a:r>
            <a:endParaRPr lang="en-US" sz="1050" dirty="0"/>
          </a:p>
        </p:txBody>
      </p:sp>
      <p:sp>
        <p:nvSpPr>
          <p:cNvPr id="16" name="Text 14"/>
          <p:cNvSpPr txBox="1"/>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17" name="Text 15"/>
          <p:cNvSpPr txBox="1"/>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6B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263B"/>
        </a:solidFill>
        <a:effectLst/>
      </p:bgPr>
    </p:bg>
    <p:spTree>
      <p:nvGrpSpPr>
        <p:cNvPr id="1" name=""/>
        <p:cNvGrpSpPr/>
        <p:nvPr/>
      </p:nvGrpSpPr>
      <p:grpSpPr>
        <a:xfrm>
          <a:off x="0" y="0"/>
          <a:ext cx="0" cy="0"/>
          <a:chOff x="0" y="0"/>
          <a:chExt cx="0" cy="0"/>
        </a:xfrm>
      </p:grpSpPr>
      <p:sp>
        <p:nvSpPr>
          <p:cNvPr id="2" name="Shape 0"/>
          <p:cNvSpPr/>
          <p:nvPr/>
        </p:nvSpPr>
        <p:spPr>
          <a:xfrm>
            <a:off x="-2011680" y="-2011680"/>
            <a:ext cx="4572000" cy="4572000"/>
          </a:xfrm>
          <a:prstGeom prst="ellipse">
            <a:avLst/>
          </a:prstGeom>
          <a:solidFill>
            <a:srgbClr val="27405E"/>
          </a:solidFill>
          <a:ln/>
        </p:spPr>
      </p:sp>
      <p:sp>
        <p:nvSpPr>
          <p:cNvPr id="3" name="Shape 1"/>
          <p:cNvSpPr/>
          <p:nvPr/>
        </p:nvSpPr>
        <p:spPr>
          <a:xfrm>
            <a:off x="9875520" y="4754880"/>
            <a:ext cx="3657600" cy="3657600"/>
          </a:xfrm>
          <a:prstGeom prst="ellipse">
            <a:avLst/>
          </a:prstGeom>
          <a:solidFill>
            <a:srgbClr val="27405E"/>
          </a:solidFill>
          <a:ln/>
        </p:spPr>
      </p:sp>
      <p:sp>
        <p:nvSpPr>
          <p:cNvPr id="4" name="Text 2"/>
          <p:cNvSpPr txBox="1"/>
          <p:nvPr/>
        </p:nvSpPr>
        <p:spPr>
          <a:xfrm>
            <a:off x="731520" y="2468880"/>
            <a:ext cx="9144000" cy="91440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Thank You</a:t>
            </a:r>
            <a:endParaRPr lang="en-US" sz="3800" dirty="0"/>
          </a:p>
        </p:txBody>
      </p:sp>
      <p:sp>
        <p:nvSpPr>
          <p:cNvPr id="5" name="Text 3"/>
          <p:cNvSpPr txBox="1"/>
          <p:nvPr/>
        </p:nvSpPr>
        <p:spPr>
          <a:xfrm>
            <a:off x="731520" y="3429000"/>
            <a:ext cx="9144000" cy="548640"/>
          </a:xfrm>
          <a:prstGeom prst="rect">
            <a:avLst/>
          </a:prstGeom>
          <a:noFill/>
          <a:ln/>
        </p:spPr>
        <p:txBody>
          <a:bodyPr wrap="square" rtlCol="0" anchor="ctr"/>
          <a:lstStyle/>
          <a:p>
            <a:pPr marL="0" indent="0">
              <a:buNone/>
            </a:pPr>
            <a:r>
              <a:rPr lang="en-US" sz="1600" i="1" dirty="0">
                <a:solidFill>
                  <a:srgbClr val="C6D2DE"/>
                </a:solidFill>
                <a:latin typeface="Calibri" pitchFamily="34" charset="0"/>
                <a:ea typeface="Calibri" pitchFamily="34" charset="-122"/>
                <a:cs typeface="Calibri" pitchFamily="34" charset="-120"/>
              </a:rPr>
              <a:t>Stay alert. Verify before you trust. Report before you click.</a:t>
            </a:r>
            <a:endParaRPr lang="en-US" sz="1600" dirty="0"/>
          </a:p>
        </p:txBody>
      </p:sp>
      <p:sp>
        <p:nvSpPr>
          <p:cNvPr id="6" name="Text 4"/>
          <p:cNvSpPr txBox="1"/>
          <p:nvPr/>
        </p:nvSpPr>
        <p:spPr>
          <a:xfrm>
            <a:off x="731520" y="6035040"/>
            <a:ext cx="9144000" cy="365760"/>
          </a:xfrm>
          <a:prstGeom prst="rect">
            <a:avLst/>
          </a:prstGeom>
          <a:noFill/>
          <a:ln/>
        </p:spPr>
        <p:txBody>
          <a:bodyPr wrap="square" rtlCol="0" anchor="ctr"/>
          <a:lstStyle/>
          <a:p>
            <a:pPr marL="0" indent="0">
              <a:buNone/>
            </a:pP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2331</Words>
  <Application>Microsoft Macintosh PowerPoint</Application>
  <PresentationFormat>Widescreen</PresentationFormat>
  <Paragraphs>200</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Courier New</vt:lpstr>
      <vt:lpstr>Georgia</vt:lpstr>
      <vt:lpstr>quote-cjk-patch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alalematthewjj@outlook.com</cp:lastModifiedBy>
  <cp:revision>3</cp:revision>
  <dcterms:created xsi:type="dcterms:W3CDTF">2026-09-17T08:15:55Z</dcterms:created>
  <dcterms:modified xsi:type="dcterms:W3CDTF">2026-09-17T22:38:12Z</dcterms:modified>
</cp:coreProperties>
</file>